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581" r:id="rId5"/>
    <p:sldId id="840" r:id="rId6"/>
    <p:sldId id="769" r:id="rId7"/>
    <p:sldId id="772" r:id="rId8"/>
    <p:sldId id="780" r:id="rId9"/>
    <p:sldId id="759" r:id="rId10"/>
    <p:sldId id="841" r:id="rId11"/>
    <p:sldId id="7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8603FDC-E32A-4AB5-989C-0864C3EAD2B8}" styleName="Themed Style 2 –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4" autoAdjust="0"/>
    <p:restoredTop sz="76828" autoAdjust="0"/>
  </p:normalViewPr>
  <p:slideViewPr>
    <p:cSldViewPr snapToGrid="0">
      <p:cViewPr varScale="1">
        <p:scale>
          <a:sx n="63" d="100"/>
          <a:sy n="63" d="100"/>
        </p:scale>
        <p:origin x="1224" y="62"/>
      </p:cViewPr>
      <p:guideLst>
        <p:guide orient="horz" pos="2160"/>
        <p:guide pos="3840"/>
      </p:guideLst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# -*- coding: utf-8 -*-</a:t>
            </a:r>
          </a:p>
          <a:p>
            <a:r>
              <a:rPr lang="en-GB" dirty="0"/>
              <a:t>"""</a:t>
            </a:r>
          </a:p>
          <a:p>
            <a:r>
              <a:rPr lang="en-GB" dirty="0"/>
              <a:t>Created on Mon Jun 30 18:37:02 2025</a:t>
            </a:r>
          </a:p>
          <a:p>
            <a:endParaRPr lang="en-GB" dirty="0"/>
          </a:p>
          <a:p>
            <a:r>
              <a:rPr lang="en-GB" dirty="0"/>
              <a:t>@author: </a:t>
            </a:r>
            <a:r>
              <a:rPr lang="en-GB" dirty="0" err="1"/>
              <a:t>abkhu</a:t>
            </a:r>
            <a:endParaRPr lang="en-GB" dirty="0"/>
          </a:p>
          <a:p>
            <a:r>
              <a:rPr lang="en-GB" dirty="0"/>
              <a:t>"""</a:t>
            </a:r>
          </a:p>
          <a:p>
            <a:endParaRPr lang="en-GB" dirty="0"/>
          </a:p>
          <a:p>
            <a:r>
              <a:rPr lang="en-GB" dirty="0"/>
              <a:t>import </a:t>
            </a:r>
            <a:r>
              <a:rPr lang="en-GB" dirty="0" err="1"/>
              <a:t>numpy</a:t>
            </a:r>
            <a:r>
              <a:rPr lang="en-GB" dirty="0"/>
              <a:t> as np</a:t>
            </a:r>
          </a:p>
          <a:p>
            <a:r>
              <a:rPr lang="en-GB" dirty="0"/>
              <a:t>import </a:t>
            </a:r>
            <a:r>
              <a:rPr lang="en-GB" dirty="0" err="1"/>
              <a:t>matplotlib.pyplot</a:t>
            </a:r>
            <a:r>
              <a:rPr lang="en-GB" dirty="0"/>
              <a:t> as </a:t>
            </a:r>
            <a:r>
              <a:rPr lang="en-GB" dirty="0" err="1"/>
              <a:t>plt</a:t>
            </a:r>
            <a:endParaRPr lang="en-GB" dirty="0"/>
          </a:p>
          <a:p>
            <a:r>
              <a:rPr lang="en-GB" dirty="0"/>
              <a:t>from </a:t>
            </a:r>
            <a:r>
              <a:rPr lang="en-GB" dirty="0" err="1"/>
              <a:t>scipy.special</a:t>
            </a:r>
            <a:r>
              <a:rPr lang="en-GB" dirty="0"/>
              <a:t> import </a:t>
            </a:r>
            <a:r>
              <a:rPr lang="en-GB" dirty="0" err="1"/>
              <a:t>ellipk</a:t>
            </a:r>
            <a:endParaRPr lang="en-GB" dirty="0"/>
          </a:p>
          <a:p>
            <a:endParaRPr lang="en-GB" dirty="0"/>
          </a:p>
          <a:p>
            <a:r>
              <a:rPr lang="en-GB" dirty="0"/>
              <a:t># Constants</a:t>
            </a:r>
          </a:p>
          <a:p>
            <a:r>
              <a:rPr lang="en-GB" dirty="0"/>
              <a:t>epsilon_0 = 8.854e-12  # Vacuum permittivity (F/m)</a:t>
            </a:r>
          </a:p>
          <a:p>
            <a:r>
              <a:rPr lang="en-GB" dirty="0" err="1"/>
              <a:t>epsilon_eff</a:t>
            </a:r>
            <a:r>
              <a:rPr lang="en-GB" dirty="0"/>
              <a:t> = 5.05     # Effective dielectric constant from paper</a:t>
            </a:r>
          </a:p>
          <a:p>
            <a:endParaRPr lang="en-GB" dirty="0"/>
          </a:p>
          <a:p>
            <a:r>
              <a:rPr lang="en-GB" dirty="0"/>
              <a:t># Finger parameters (in meters)</a:t>
            </a:r>
          </a:p>
          <a:p>
            <a:r>
              <a:rPr lang="en-GB" dirty="0"/>
              <a:t>w = 3.3e-6   # Finger width (3.3 µm)</a:t>
            </a:r>
          </a:p>
          <a:p>
            <a:r>
              <a:rPr lang="en-GB" dirty="0"/>
              <a:t>s = 3.3e-6   # Finger spacing (3.3 µm)</a:t>
            </a:r>
          </a:p>
          <a:p>
            <a:r>
              <a:rPr lang="en-GB" dirty="0" err="1"/>
              <a:t>lf_range</a:t>
            </a:r>
            <a:r>
              <a:rPr lang="en-GB" dirty="0"/>
              <a:t> = </a:t>
            </a:r>
            <a:r>
              <a:rPr lang="en-GB" dirty="0" err="1"/>
              <a:t>np.linspace</a:t>
            </a:r>
            <a:r>
              <a:rPr lang="en-GB" dirty="0"/>
              <a:t>(10e-6, 150e-6, 500)  # Finger length from 10 µm to 150 µm</a:t>
            </a:r>
          </a:p>
          <a:p>
            <a:endParaRPr lang="en-GB" dirty="0"/>
          </a:p>
          <a:p>
            <a:r>
              <a:rPr lang="en-GB" dirty="0"/>
              <a:t>def </a:t>
            </a:r>
            <a:r>
              <a:rPr lang="en-GB" dirty="0" err="1"/>
              <a:t>capacitance_per_length</a:t>
            </a:r>
            <a:r>
              <a:rPr lang="en-GB" dirty="0"/>
              <a:t>(w, s, </a:t>
            </a:r>
            <a:r>
              <a:rPr lang="en-GB" dirty="0" err="1"/>
              <a:t>epsilon_eff</a:t>
            </a:r>
            <a:r>
              <a:rPr lang="en-GB" dirty="0"/>
              <a:t>):</a:t>
            </a:r>
          </a:p>
          <a:p>
            <a:r>
              <a:rPr lang="en-GB" dirty="0"/>
              <a:t>    """</a:t>
            </a:r>
          </a:p>
          <a:p>
            <a:r>
              <a:rPr lang="en-GB" dirty="0"/>
              <a:t>    Calculate capacitance per unit length (F/m) using conformal mapping.</a:t>
            </a:r>
          </a:p>
          <a:p>
            <a:r>
              <a:rPr lang="en-GB" dirty="0"/>
              <a:t>    """</a:t>
            </a:r>
          </a:p>
          <a:p>
            <a:r>
              <a:rPr lang="en-GB" dirty="0"/>
              <a:t>    k = w / (w + 2 * s)</a:t>
            </a:r>
          </a:p>
          <a:p>
            <a:r>
              <a:rPr lang="en-GB" dirty="0"/>
              <a:t>    </a:t>
            </a:r>
            <a:r>
              <a:rPr lang="en-GB" dirty="0" err="1"/>
              <a:t>k_prime</a:t>
            </a:r>
            <a:r>
              <a:rPr lang="en-GB" dirty="0"/>
              <a:t> = </a:t>
            </a:r>
            <a:r>
              <a:rPr lang="en-GB" dirty="0" err="1"/>
              <a:t>np.sqrt</a:t>
            </a:r>
            <a:r>
              <a:rPr lang="en-GB" dirty="0"/>
              <a:t>(1 - k**2)</a:t>
            </a:r>
          </a:p>
          <a:p>
            <a:r>
              <a:rPr lang="en-GB" dirty="0"/>
              <a:t>    </a:t>
            </a:r>
            <a:r>
              <a:rPr lang="en-GB" dirty="0" err="1"/>
              <a:t>K_k</a:t>
            </a:r>
            <a:r>
              <a:rPr lang="en-GB" dirty="0"/>
              <a:t> = </a:t>
            </a:r>
            <a:r>
              <a:rPr lang="en-GB" dirty="0" err="1"/>
              <a:t>ellipk</a:t>
            </a:r>
            <a:r>
              <a:rPr lang="en-GB" dirty="0"/>
              <a:t>(k**2)</a:t>
            </a:r>
          </a:p>
          <a:p>
            <a:r>
              <a:rPr lang="en-GB" dirty="0"/>
              <a:t>    </a:t>
            </a:r>
            <a:r>
              <a:rPr lang="en-GB" dirty="0" err="1"/>
              <a:t>K_k_prime</a:t>
            </a:r>
            <a:r>
              <a:rPr lang="en-GB" dirty="0"/>
              <a:t> = </a:t>
            </a:r>
            <a:r>
              <a:rPr lang="en-GB" dirty="0" err="1"/>
              <a:t>ellipk</a:t>
            </a:r>
            <a:r>
              <a:rPr lang="en-GB" dirty="0"/>
              <a:t>(</a:t>
            </a:r>
            <a:r>
              <a:rPr lang="en-GB" dirty="0" err="1"/>
              <a:t>k_prime</a:t>
            </a:r>
            <a:r>
              <a:rPr lang="en-GB" dirty="0"/>
              <a:t>**2)</a:t>
            </a:r>
          </a:p>
          <a:p>
            <a:r>
              <a:rPr lang="en-GB" dirty="0"/>
              <a:t>    </a:t>
            </a:r>
          </a:p>
          <a:p>
            <a:r>
              <a:rPr lang="en-GB" dirty="0"/>
              <a:t>    </a:t>
            </a:r>
            <a:r>
              <a:rPr lang="en-GB" dirty="0" err="1"/>
              <a:t>cf</a:t>
            </a:r>
            <a:r>
              <a:rPr lang="en-GB" dirty="0"/>
              <a:t> = 2 * epsilon_0 * </a:t>
            </a:r>
            <a:r>
              <a:rPr lang="en-GB" dirty="0" err="1"/>
              <a:t>epsilon_eff</a:t>
            </a:r>
            <a:r>
              <a:rPr lang="en-GB" dirty="0"/>
              <a:t> * </a:t>
            </a:r>
            <a:r>
              <a:rPr lang="en-GB" dirty="0" err="1"/>
              <a:t>K_k</a:t>
            </a:r>
            <a:r>
              <a:rPr lang="en-GB" dirty="0"/>
              <a:t> / </a:t>
            </a:r>
            <a:r>
              <a:rPr lang="en-GB" dirty="0" err="1"/>
              <a:t>K_k_prime</a:t>
            </a:r>
            <a:endParaRPr lang="en-GB" dirty="0"/>
          </a:p>
          <a:p>
            <a:r>
              <a:rPr lang="en-GB" dirty="0"/>
              <a:t>    return </a:t>
            </a:r>
            <a:r>
              <a:rPr lang="en-GB" dirty="0" err="1"/>
              <a:t>cf</a:t>
            </a:r>
            <a:r>
              <a:rPr lang="en-GB" dirty="0"/>
              <a:t>  # F/m</a:t>
            </a:r>
          </a:p>
          <a:p>
            <a:endParaRPr lang="en-GB" dirty="0"/>
          </a:p>
          <a:p>
            <a:r>
              <a:rPr lang="en-GB" dirty="0"/>
              <a:t># Compute per unit length capacitance</a:t>
            </a:r>
          </a:p>
          <a:p>
            <a:r>
              <a:rPr lang="en-GB" dirty="0" err="1"/>
              <a:t>cf</a:t>
            </a:r>
            <a:r>
              <a:rPr lang="en-GB" dirty="0"/>
              <a:t> = </a:t>
            </a:r>
            <a:r>
              <a:rPr lang="en-GB" dirty="0" err="1"/>
              <a:t>capacitance_per_length</a:t>
            </a:r>
            <a:r>
              <a:rPr lang="en-GB" dirty="0"/>
              <a:t>(w, s, </a:t>
            </a:r>
            <a:r>
              <a:rPr lang="en-GB" dirty="0" err="1"/>
              <a:t>epsilon_eff</a:t>
            </a:r>
            <a:r>
              <a:rPr lang="en-GB" dirty="0"/>
              <a:t>)  # F/m</a:t>
            </a:r>
          </a:p>
          <a:p>
            <a:endParaRPr lang="en-GB" dirty="0"/>
          </a:p>
          <a:p>
            <a:r>
              <a:rPr lang="en-GB" dirty="0" err="1"/>
              <a:t>plt.figure</a:t>
            </a:r>
            <a:r>
              <a:rPr lang="en-GB" dirty="0"/>
              <a:t>(</a:t>
            </a:r>
            <a:r>
              <a:rPr lang="en-GB" dirty="0" err="1"/>
              <a:t>figsize</a:t>
            </a:r>
            <a:r>
              <a:rPr lang="en-GB" dirty="0"/>
              <a:t>=(8,5))</a:t>
            </a:r>
          </a:p>
          <a:p>
            <a:endParaRPr lang="en-GB" dirty="0"/>
          </a:p>
          <a:p>
            <a:r>
              <a:rPr lang="en-GB" dirty="0"/>
              <a:t># Plot for multiple finger pairs (1+1 up to 8+8)</a:t>
            </a:r>
          </a:p>
          <a:p>
            <a:r>
              <a:rPr lang="en-GB" dirty="0"/>
              <a:t>for fingers in range(1, 9):</a:t>
            </a:r>
          </a:p>
          <a:p>
            <a:r>
              <a:rPr lang="en-GB" dirty="0"/>
              <a:t>    </a:t>
            </a:r>
            <a:r>
              <a:rPr lang="en-GB" dirty="0" err="1"/>
              <a:t>C_total</a:t>
            </a:r>
            <a:r>
              <a:rPr lang="en-GB" dirty="0"/>
              <a:t> = </a:t>
            </a:r>
            <a:r>
              <a:rPr lang="en-GB" dirty="0" err="1"/>
              <a:t>cf</a:t>
            </a:r>
            <a:r>
              <a:rPr lang="en-GB" dirty="0"/>
              <a:t> * </a:t>
            </a:r>
            <a:r>
              <a:rPr lang="en-GB" dirty="0" err="1"/>
              <a:t>lf_range</a:t>
            </a:r>
            <a:r>
              <a:rPr lang="en-GB" dirty="0"/>
              <a:t> * fingers  # Total capacitance = per length * finger length * number of pairs</a:t>
            </a:r>
          </a:p>
          <a:p>
            <a:r>
              <a:rPr lang="en-GB" dirty="0"/>
              <a:t>    </a:t>
            </a:r>
            <a:r>
              <a:rPr lang="en-GB" dirty="0" err="1"/>
              <a:t>C_total_fF</a:t>
            </a:r>
            <a:r>
              <a:rPr lang="en-GB" dirty="0"/>
              <a:t> = </a:t>
            </a:r>
            <a:r>
              <a:rPr lang="en-GB" dirty="0" err="1"/>
              <a:t>C_total</a:t>
            </a:r>
            <a:r>
              <a:rPr lang="en-GB" dirty="0"/>
              <a:t> * 1e15</a:t>
            </a:r>
          </a:p>
          <a:p>
            <a:r>
              <a:rPr lang="en-GB" dirty="0"/>
              <a:t>    </a:t>
            </a:r>
            <a:r>
              <a:rPr lang="en-GB" dirty="0" err="1"/>
              <a:t>plt.plot</a:t>
            </a:r>
            <a:r>
              <a:rPr lang="en-GB" dirty="0"/>
              <a:t>(</a:t>
            </a:r>
            <a:r>
              <a:rPr lang="en-GB" dirty="0" err="1"/>
              <a:t>lf_range</a:t>
            </a:r>
            <a:r>
              <a:rPr lang="en-GB" dirty="0"/>
              <a:t> * 1e6, </a:t>
            </a:r>
            <a:r>
              <a:rPr lang="en-GB" dirty="0" err="1"/>
              <a:t>C_total_fF</a:t>
            </a:r>
            <a:r>
              <a:rPr lang="en-GB" dirty="0"/>
              <a:t>, label=f'{fingers}+{fingers} fingers')</a:t>
            </a:r>
          </a:p>
          <a:p>
            <a:endParaRPr lang="en-GB" dirty="0"/>
          </a:p>
          <a:p>
            <a:r>
              <a:rPr lang="en-GB" dirty="0"/>
              <a:t># Experimental value for 1+1 fingers at 100 µm</a:t>
            </a:r>
          </a:p>
          <a:p>
            <a:r>
              <a:rPr lang="en-GB" dirty="0" err="1"/>
              <a:t>lf_exp</a:t>
            </a:r>
            <a:r>
              <a:rPr lang="en-GB" dirty="0"/>
              <a:t> = 100e-6</a:t>
            </a:r>
          </a:p>
          <a:p>
            <a:r>
              <a:rPr lang="en-GB" dirty="0" err="1"/>
              <a:t>C_exp</a:t>
            </a:r>
            <a:r>
              <a:rPr lang="en-GB" dirty="0"/>
              <a:t> = 3.98  # </a:t>
            </a:r>
            <a:r>
              <a:rPr lang="en-GB" dirty="0" err="1"/>
              <a:t>fF</a:t>
            </a:r>
            <a:r>
              <a:rPr lang="en-GB" dirty="0"/>
              <a:t> (from paper)</a:t>
            </a:r>
          </a:p>
          <a:p>
            <a:r>
              <a:rPr lang="en-GB" dirty="0" err="1"/>
              <a:t>plt.scatter</a:t>
            </a:r>
            <a:r>
              <a:rPr lang="en-GB" dirty="0"/>
              <a:t>([</a:t>
            </a:r>
            <a:r>
              <a:rPr lang="en-GB" dirty="0" err="1"/>
              <a:t>lf_exp</a:t>
            </a:r>
            <a:r>
              <a:rPr lang="en-GB" dirty="0"/>
              <a:t> * 1e6], [</a:t>
            </a:r>
            <a:r>
              <a:rPr lang="en-GB" dirty="0" err="1"/>
              <a:t>C_exp</a:t>
            </a:r>
            <a:r>
              <a:rPr lang="en-GB" dirty="0"/>
              <a:t>], </a:t>
            </a:r>
            <a:r>
              <a:rPr lang="en-GB" dirty="0" err="1"/>
              <a:t>color</a:t>
            </a:r>
            <a:r>
              <a:rPr lang="en-GB" dirty="0"/>
              <a:t>='red', label='Experimental 1+1 (3.98 </a:t>
            </a:r>
            <a:r>
              <a:rPr lang="en-GB" dirty="0" err="1"/>
              <a:t>fF</a:t>
            </a:r>
            <a:r>
              <a:rPr lang="en-GB" dirty="0"/>
              <a:t>)', </a:t>
            </a:r>
            <a:r>
              <a:rPr lang="en-GB" dirty="0" err="1"/>
              <a:t>zorder</a:t>
            </a:r>
            <a:r>
              <a:rPr lang="en-GB" dirty="0"/>
              <a:t>=5, s=100)</a:t>
            </a:r>
          </a:p>
          <a:p>
            <a:endParaRPr lang="en-GB" dirty="0"/>
          </a:p>
          <a:p>
            <a:r>
              <a:rPr lang="en-GB" dirty="0"/>
              <a:t># Model value for 1+1 fingers at 100 µm</a:t>
            </a:r>
          </a:p>
          <a:p>
            <a:r>
              <a:rPr lang="en-GB" dirty="0" err="1"/>
              <a:t>C_model_exp</a:t>
            </a:r>
            <a:r>
              <a:rPr lang="en-GB" dirty="0"/>
              <a:t> = </a:t>
            </a:r>
            <a:r>
              <a:rPr lang="en-GB" dirty="0" err="1"/>
              <a:t>cf</a:t>
            </a:r>
            <a:r>
              <a:rPr lang="en-GB" dirty="0"/>
              <a:t> * </a:t>
            </a:r>
            <a:r>
              <a:rPr lang="en-GB" dirty="0" err="1"/>
              <a:t>lf_exp</a:t>
            </a:r>
            <a:r>
              <a:rPr lang="en-GB" dirty="0"/>
              <a:t> * 1e15  # in </a:t>
            </a:r>
            <a:r>
              <a:rPr lang="en-GB" dirty="0" err="1"/>
              <a:t>fF</a:t>
            </a:r>
            <a:endParaRPr lang="en-GB" dirty="0"/>
          </a:p>
          <a:p>
            <a:r>
              <a:rPr lang="en-GB" dirty="0" err="1"/>
              <a:t>plt.scatter</a:t>
            </a:r>
            <a:r>
              <a:rPr lang="en-GB" dirty="0"/>
              <a:t>([</a:t>
            </a:r>
            <a:r>
              <a:rPr lang="en-GB" dirty="0" err="1"/>
              <a:t>lf_exp</a:t>
            </a:r>
            <a:r>
              <a:rPr lang="en-GB" dirty="0"/>
              <a:t> * 1e6], [</a:t>
            </a:r>
            <a:r>
              <a:rPr lang="en-GB" dirty="0" err="1"/>
              <a:t>C_model_exp</a:t>
            </a:r>
            <a:r>
              <a:rPr lang="en-GB" dirty="0"/>
              <a:t>], </a:t>
            </a:r>
            <a:r>
              <a:rPr lang="en-GB" dirty="0" err="1"/>
              <a:t>color</a:t>
            </a:r>
            <a:r>
              <a:rPr lang="en-GB" dirty="0"/>
              <a:t>='green', label=</a:t>
            </a:r>
            <a:r>
              <a:rPr lang="en-GB" dirty="0" err="1"/>
              <a:t>f'Model</a:t>
            </a:r>
            <a:r>
              <a:rPr lang="en-GB" dirty="0"/>
              <a:t> 1+1 at 100 µm ({C_model_exp:.2f} </a:t>
            </a:r>
            <a:r>
              <a:rPr lang="en-GB" dirty="0" err="1"/>
              <a:t>fF</a:t>
            </a:r>
            <a:r>
              <a:rPr lang="en-GB" dirty="0"/>
              <a:t>)', </a:t>
            </a:r>
            <a:r>
              <a:rPr lang="en-GB" dirty="0" err="1"/>
              <a:t>zorder</a:t>
            </a:r>
            <a:r>
              <a:rPr lang="en-GB" dirty="0"/>
              <a:t>=6, s=100)</a:t>
            </a:r>
          </a:p>
          <a:p>
            <a:endParaRPr lang="en-GB" dirty="0"/>
          </a:p>
          <a:p>
            <a:r>
              <a:rPr lang="en-GB" dirty="0" err="1"/>
              <a:t>plt.title</a:t>
            </a:r>
            <a:r>
              <a:rPr lang="en-GB" dirty="0"/>
              <a:t>('Coupling Capacitance vs. Finger Length for 1+1 to 8+8 Finger Design')</a:t>
            </a:r>
          </a:p>
          <a:p>
            <a:r>
              <a:rPr lang="en-GB" dirty="0" err="1"/>
              <a:t>plt.xlabel</a:t>
            </a:r>
            <a:r>
              <a:rPr lang="en-GB" dirty="0"/>
              <a:t>('Finger Length $</a:t>
            </a:r>
            <a:r>
              <a:rPr lang="en-GB" dirty="0" err="1"/>
              <a:t>L_f</a:t>
            </a:r>
            <a:r>
              <a:rPr lang="en-GB" dirty="0"/>
              <a:t>$ (µm)')</a:t>
            </a:r>
          </a:p>
          <a:p>
            <a:r>
              <a:rPr lang="en-GB" dirty="0" err="1"/>
              <a:t>plt.ylabel</a:t>
            </a:r>
            <a:r>
              <a:rPr lang="en-GB" dirty="0"/>
              <a:t>('Coupling Capacitance $</a:t>
            </a:r>
            <a:r>
              <a:rPr lang="en-GB" dirty="0" err="1"/>
              <a:t>C_k</a:t>
            </a:r>
            <a:r>
              <a:rPr lang="en-GB" dirty="0"/>
              <a:t>$ (</a:t>
            </a:r>
            <a:r>
              <a:rPr lang="en-GB" dirty="0" err="1"/>
              <a:t>fF</a:t>
            </a:r>
            <a:r>
              <a:rPr lang="en-GB" dirty="0"/>
              <a:t>)')</a:t>
            </a:r>
          </a:p>
          <a:p>
            <a:r>
              <a:rPr lang="en-GB" dirty="0" err="1"/>
              <a:t>plt.grid</a:t>
            </a:r>
            <a:r>
              <a:rPr lang="en-GB" dirty="0"/>
              <a:t>(True)</a:t>
            </a:r>
          </a:p>
          <a:p>
            <a:r>
              <a:rPr lang="en-GB" dirty="0" err="1"/>
              <a:t>plt.legend</a:t>
            </a:r>
            <a:r>
              <a:rPr lang="en-GB" dirty="0"/>
              <a:t>(loc='upper left')</a:t>
            </a:r>
          </a:p>
          <a:p>
            <a:r>
              <a:rPr lang="en-GB" dirty="0" err="1"/>
              <a:t>plt.tight_layout</a:t>
            </a:r>
            <a:r>
              <a:rPr lang="en-GB" dirty="0"/>
              <a:t>()</a:t>
            </a:r>
          </a:p>
          <a:p>
            <a:r>
              <a:rPr lang="en-GB" dirty="0" err="1"/>
              <a:t>plt.show</a:t>
            </a:r>
            <a:r>
              <a:rPr lang="en-GB" dirty="0"/>
              <a:t>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7004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# -*- coding: utf-8 -*-</a:t>
            </a:r>
          </a:p>
          <a:p>
            <a:r>
              <a:rPr lang="en-GB" dirty="0"/>
              <a:t>"""</a:t>
            </a:r>
          </a:p>
          <a:p>
            <a:r>
              <a:rPr lang="en-GB" dirty="0"/>
              <a:t>Created on Mon Jun 30 22:00:31 2025</a:t>
            </a:r>
          </a:p>
          <a:p>
            <a:endParaRPr lang="en-GB" dirty="0"/>
          </a:p>
          <a:p>
            <a:r>
              <a:rPr lang="en-GB" dirty="0"/>
              <a:t>@author: </a:t>
            </a:r>
            <a:r>
              <a:rPr lang="en-GB" dirty="0" err="1"/>
              <a:t>abkhu</a:t>
            </a:r>
            <a:endParaRPr lang="en-GB" dirty="0"/>
          </a:p>
          <a:p>
            <a:r>
              <a:rPr lang="en-GB" dirty="0"/>
              <a:t>"""</a:t>
            </a:r>
          </a:p>
          <a:p>
            <a:endParaRPr lang="en-GB" dirty="0"/>
          </a:p>
          <a:p>
            <a:r>
              <a:rPr lang="en-GB" dirty="0"/>
              <a:t># -*- coding: utf-8 -*-</a:t>
            </a:r>
          </a:p>
          <a:p>
            <a:r>
              <a:rPr lang="en-GB" dirty="0"/>
              <a:t>"""</a:t>
            </a:r>
          </a:p>
          <a:p>
            <a:r>
              <a:rPr lang="en-GB" dirty="0"/>
              <a:t>Created on Sun Jun 22 01:59:51 2025</a:t>
            </a:r>
          </a:p>
          <a:p>
            <a:endParaRPr lang="en-GB" dirty="0"/>
          </a:p>
          <a:p>
            <a:r>
              <a:rPr lang="en-GB" dirty="0"/>
              <a:t>@author: </a:t>
            </a:r>
            <a:r>
              <a:rPr lang="en-GB" dirty="0" err="1"/>
              <a:t>abkhu</a:t>
            </a:r>
            <a:endParaRPr lang="en-GB" dirty="0"/>
          </a:p>
          <a:p>
            <a:r>
              <a:rPr lang="en-GB" dirty="0"/>
              <a:t>"""</a:t>
            </a:r>
          </a:p>
          <a:p>
            <a:endParaRPr lang="en-GB" dirty="0"/>
          </a:p>
          <a:p>
            <a:r>
              <a:rPr lang="en-GB" dirty="0"/>
              <a:t>import </a:t>
            </a:r>
            <a:r>
              <a:rPr lang="en-GB" dirty="0" err="1"/>
              <a:t>numpy</a:t>
            </a:r>
            <a:r>
              <a:rPr lang="en-GB" dirty="0"/>
              <a:t> as np</a:t>
            </a:r>
          </a:p>
          <a:p>
            <a:r>
              <a:rPr lang="en-GB" dirty="0"/>
              <a:t>import </a:t>
            </a:r>
            <a:r>
              <a:rPr lang="en-GB" dirty="0" err="1"/>
              <a:t>matplotlib.pyplot</a:t>
            </a:r>
            <a:r>
              <a:rPr lang="en-GB" dirty="0"/>
              <a:t> as </a:t>
            </a:r>
            <a:r>
              <a:rPr lang="en-GB" dirty="0" err="1"/>
              <a:t>plt</a:t>
            </a:r>
            <a:endParaRPr lang="en-GB" dirty="0"/>
          </a:p>
          <a:p>
            <a:r>
              <a:rPr lang="en-GB" dirty="0"/>
              <a:t>import math</a:t>
            </a:r>
          </a:p>
          <a:p>
            <a:endParaRPr lang="en-GB" dirty="0"/>
          </a:p>
          <a:p>
            <a:r>
              <a:rPr lang="en-GB" dirty="0"/>
              <a:t>def </a:t>
            </a:r>
            <a:r>
              <a:rPr lang="en-GB" dirty="0" err="1"/>
              <a:t>calculate_cpw_gap_capacitance</a:t>
            </a:r>
            <a:r>
              <a:rPr lang="en-GB" dirty="0"/>
              <a:t>(g, W, </a:t>
            </a:r>
            <a:r>
              <a:rPr lang="en-GB" dirty="0" err="1"/>
              <a:t>epsilon_r_eff</a:t>
            </a:r>
            <a:r>
              <a:rPr lang="en-GB" dirty="0"/>
              <a:t>):</a:t>
            </a:r>
          </a:p>
          <a:p>
            <a:r>
              <a:rPr lang="en-GB" dirty="0"/>
              <a:t>    epsilon_0 = 8.854187817e-12  # F/m vacuum permittivity</a:t>
            </a:r>
          </a:p>
          <a:p>
            <a:r>
              <a:rPr lang="en-GB" dirty="0"/>
              <a:t>    p = g / (4 * W)</a:t>
            </a:r>
          </a:p>
          <a:p>
            <a:r>
              <a:rPr lang="en-GB" dirty="0"/>
              <a:t>    p = </a:t>
            </a:r>
            <a:r>
              <a:rPr lang="en-GB" dirty="0" err="1"/>
              <a:t>np.maximum</a:t>
            </a:r>
            <a:r>
              <a:rPr lang="en-GB" dirty="0"/>
              <a:t>(p, 1e-12)  # prevent log(0)</a:t>
            </a:r>
          </a:p>
          <a:p>
            <a:r>
              <a:rPr lang="en-GB" dirty="0"/>
              <a:t>    term = p - </a:t>
            </a:r>
            <a:r>
              <a:rPr lang="en-GB" dirty="0" err="1"/>
              <a:t>np.sqrt</a:t>
            </a:r>
            <a:r>
              <a:rPr lang="en-GB" dirty="0"/>
              <a:t>(1 + p**2) + np.log((1 + </a:t>
            </a:r>
            <a:r>
              <a:rPr lang="en-GB" dirty="0" err="1"/>
              <a:t>np.sqrt</a:t>
            </a:r>
            <a:r>
              <a:rPr lang="en-GB" dirty="0"/>
              <a:t>(1 + p**2)) / p)</a:t>
            </a:r>
          </a:p>
          <a:p>
            <a:r>
              <a:rPr lang="en-GB" dirty="0"/>
              <a:t>    C = (2 * epsilon_0 * </a:t>
            </a:r>
            <a:r>
              <a:rPr lang="en-GB" dirty="0" err="1"/>
              <a:t>epsilon_r_eff</a:t>
            </a:r>
            <a:r>
              <a:rPr lang="en-GB" dirty="0"/>
              <a:t> * W / </a:t>
            </a:r>
            <a:r>
              <a:rPr lang="en-GB" dirty="0" err="1"/>
              <a:t>math.pi</a:t>
            </a:r>
            <a:r>
              <a:rPr lang="en-GB" dirty="0"/>
              <a:t>) * term</a:t>
            </a:r>
          </a:p>
          <a:p>
            <a:r>
              <a:rPr lang="en-GB" dirty="0"/>
              <a:t>    return C</a:t>
            </a:r>
          </a:p>
          <a:p>
            <a:endParaRPr lang="en-GB" dirty="0"/>
          </a:p>
          <a:p>
            <a:r>
              <a:rPr lang="en-GB" dirty="0"/>
              <a:t># Parameters</a:t>
            </a:r>
          </a:p>
          <a:p>
            <a:r>
              <a:rPr lang="en-GB" dirty="0"/>
              <a:t>W = 10e-6           # 10 microns strip length</a:t>
            </a:r>
          </a:p>
          <a:p>
            <a:r>
              <a:rPr lang="en-GB" dirty="0" err="1"/>
              <a:t>epsilon_r_eff</a:t>
            </a:r>
            <a:r>
              <a:rPr lang="en-GB" dirty="0"/>
              <a:t> = 7.84  # Effective relative permittivity</a:t>
            </a:r>
          </a:p>
          <a:p>
            <a:endParaRPr lang="en-GB" dirty="0"/>
          </a:p>
          <a:p>
            <a:r>
              <a:rPr lang="en-GB" dirty="0"/>
              <a:t># Generate gap values from 1 micron to 500 microns</a:t>
            </a:r>
          </a:p>
          <a:p>
            <a:r>
              <a:rPr lang="en-GB" dirty="0" err="1"/>
              <a:t>g_min</a:t>
            </a:r>
            <a:r>
              <a:rPr lang="en-GB" dirty="0"/>
              <a:t> = 1e-6</a:t>
            </a:r>
          </a:p>
          <a:p>
            <a:r>
              <a:rPr lang="en-GB" dirty="0" err="1"/>
              <a:t>g_max</a:t>
            </a:r>
            <a:r>
              <a:rPr lang="en-GB" dirty="0"/>
              <a:t> = 5e-4</a:t>
            </a:r>
          </a:p>
          <a:p>
            <a:r>
              <a:rPr lang="en-GB" dirty="0"/>
              <a:t>gaps = </a:t>
            </a:r>
            <a:r>
              <a:rPr lang="en-GB" dirty="0" err="1"/>
              <a:t>np.linspace</a:t>
            </a:r>
            <a:r>
              <a:rPr lang="en-GB" dirty="0"/>
              <a:t>(</a:t>
            </a:r>
            <a:r>
              <a:rPr lang="en-GB" dirty="0" err="1"/>
              <a:t>g_min</a:t>
            </a:r>
            <a:r>
              <a:rPr lang="en-GB" dirty="0"/>
              <a:t>, </a:t>
            </a:r>
            <a:r>
              <a:rPr lang="en-GB" dirty="0" err="1"/>
              <a:t>g_max</a:t>
            </a:r>
            <a:r>
              <a:rPr lang="en-GB" dirty="0"/>
              <a:t>, 500)</a:t>
            </a:r>
          </a:p>
          <a:p>
            <a:endParaRPr lang="en-GB" dirty="0"/>
          </a:p>
          <a:p>
            <a:r>
              <a:rPr lang="en-GB" dirty="0"/>
              <a:t># Compute capacitance for each gap using the formula</a:t>
            </a:r>
          </a:p>
          <a:p>
            <a:r>
              <a:rPr lang="en-GB" dirty="0"/>
              <a:t>capacitances = </a:t>
            </a:r>
            <a:r>
              <a:rPr lang="en-GB" dirty="0" err="1"/>
              <a:t>calculate_cpw_gap_capacitance</a:t>
            </a:r>
            <a:r>
              <a:rPr lang="en-GB" dirty="0"/>
              <a:t>(gaps, W, </a:t>
            </a:r>
            <a:r>
              <a:rPr lang="en-GB" dirty="0" err="1"/>
              <a:t>epsilon_r_eff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/>
              <a:t># Find gap closest to 1 </a:t>
            </a:r>
            <a:r>
              <a:rPr lang="en-GB" dirty="0" err="1"/>
              <a:t>fF</a:t>
            </a:r>
            <a:r>
              <a:rPr lang="en-GB" dirty="0"/>
              <a:t> capacitance</a:t>
            </a:r>
          </a:p>
          <a:p>
            <a:r>
              <a:rPr lang="en-GB" dirty="0" err="1"/>
              <a:t>target_C</a:t>
            </a:r>
            <a:r>
              <a:rPr lang="en-GB" dirty="0"/>
              <a:t> = 1e-15  # 1 femtofarad in Farads</a:t>
            </a:r>
          </a:p>
          <a:p>
            <a:r>
              <a:rPr lang="en-GB" dirty="0" err="1"/>
              <a:t>index_closest</a:t>
            </a:r>
            <a:r>
              <a:rPr lang="en-GB" dirty="0"/>
              <a:t> = </a:t>
            </a:r>
            <a:r>
              <a:rPr lang="en-GB" dirty="0" err="1"/>
              <a:t>np.argmin</a:t>
            </a:r>
            <a:r>
              <a:rPr lang="en-GB" dirty="0"/>
              <a:t>(</a:t>
            </a:r>
            <a:r>
              <a:rPr lang="en-GB" dirty="0" err="1"/>
              <a:t>np.abs</a:t>
            </a:r>
            <a:r>
              <a:rPr lang="en-GB" dirty="0"/>
              <a:t>(capacitances - </a:t>
            </a:r>
            <a:r>
              <a:rPr lang="en-GB" dirty="0" err="1"/>
              <a:t>target_C</a:t>
            </a:r>
            <a:r>
              <a:rPr lang="en-GB" dirty="0"/>
              <a:t>))</a:t>
            </a:r>
          </a:p>
          <a:p>
            <a:r>
              <a:rPr lang="en-GB" dirty="0"/>
              <a:t>g_at_1fF = gaps[</a:t>
            </a:r>
            <a:r>
              <a:rPr lang="en-GB" dirty="0" err="1"/>
              <a:t>index_closest</a:t>
            </a:r>
            <a:r>
              <a:rPr lang="en-GB" dirty="0"/>
              <a:t>]</a:t>
            </a:r>
          </a:p>
          <a:p>
            <a:endParaRPr lang="en-GB" dirty="0"/>
          </a:p>
          <a:p>
            <a:r>
              <a:rPr lang="en-GB" dirty="0"/>
              <a:t>print(</a:t>
            </a:r>
            <a:r>
              <a:rPr lang="en-GB" dirty="0" err="1"/>
              <a:t>f"Gap</a:t>
            </a:r>
            <a:r>
              <a:rPr lang="en-GB" dirty="0"/>
              <a:t> width g at 1 </a:t>
            </a:r>
            <a:r>
              <a:rPr lang="en-GB" dirty="0" err="1"/>
              <a:t>fF</a:t>
            </a:r>
            <a:r>
              <a:rPr lang="en-GB" dirty="0"/>
              <a:t> capacitance is approximately {g_at_1fF*1e6:.2f} microns")</a:t>
            </a:r>
          </a:p>
          <a:p>
            <a:endParaRPr lang="en-GB" dirty="0"/>
          </a:p>
          <a:p>
            <a:r>
              <a:rPr lang="en-GB" dirty="0"/>
              <a:t># Literature/reference capacitance data points with IDs (excluding 3 um gap)</a:t>
            </a:r>
          </a:p>
          <a:p>
            <a:r>
              <a:rPr lang="en-GB" dirty="0" err="1"/>
              <a:t>literature_ids</a:t>
            </a:r>
            <a:r>
              <a:rPr lang="en-GB" dirty="0"/>
              <a:t> = ['I (10 </a:t>
            </a:r>
            <a:r>
              <a:rPr lang="el-GR" dirty="0"/>
              <a:t>μ</a:t>
            </a:r>
            <a:r>
              <a:rPr lang="en-GB" dirty="0"/>
              <a:t>m gap)', 'J (20 </a:t>
            </a:r>
            <a:r>
              <a:rPr lang="el-GR" dirty="0"/>
              <a:t>μ</a:t>
            </a:r>
            <a:r>
              <a:rPr lang="en-GB" dirty="0"/>
              <a:t>m gap)', 'K (30 </a:t>
            </a:r>
            <a:r>
              <a:rPr lang="el-GR" dirty="0"/>
              <a:t>μ</a:t>
            </a:r>
            <a:r>
              <a:rPr lang="en-GB" dirty="0"/>
              <a:t>m gap)', 'L (50 </a:t>
            </a:r>
            <a:r>
              <a:rPr lang="el-GR" dirty="0"/>
              <a:t>μ</a:t>
            </a:r>
            <a:r>
              <a:rPr lang="en-GB" dirty="0"/>
              <a:t>m gap)']</a:t>
            </a:r>
          </a:p>
          <a:p>
            <a:r>
              <a:rPr lang="en-GB" dirty="0" err="1"/>
              <a:t>literature_gaps</a:t>
            </a:r>
            <a:r>
              <a:rPr lang="en-GB" dirty="0"/>
              <a:t> = </a:t>
            </a:r>
            <a:r>
              <a:rPr lang="en-GB" dirty="0" err="1"/>
              <a:t>np.array</a:t>
            </a:r>
            <a:r>
              <a:rPr lang="en-GB" dirty="0"/>
              <a:t>([10, 20, 30, 50])</a:t>
            </a:r>
          </a:p>
          <a:p>
            <a:r>
              <a:rPr lang="en-GB" dirty="0" err="1"/>
              <a:t>literature_caps</a:t>
            </a:r>
            <a:r>
              <a:rPr lang="en-GB" dirty="0"/>
              <a:t> = </a:t>
            </a:r>
            <a:r>
              <a:rPr lang="en-GB" dirty="0" err="1"/>
              <a:t>np.array</a:t>
            </a:r>
            <a:r>
              <a:rPr lang="en-GB" dirty="0"/>
              <a:t>([0.44, 0.38, 0.32, 0.24])</a:t>
            </a:r>
          </a:p>
          <a:p>
            <a:endParaRPr lang="en-GB" dirty="0"/>
          </a:p>
          <a:p>
            <a:r>
              <a:rPr lang="en-GB" dirty="0"/>
              <a:t># Plot all</a:t>
            </a:r>
          </a:p>
          <a:p>
            <a:r>
              <a:rPr lang="en-GB" dirty="0" err="1"/>
              <a:t>plt.figure</a:t>
            </a:r>
            <a:r>
              <a:rPr lang="en-GB" dirty="0"/>
              <a:t>(</a:t>
            </a:r>
            <a:r>
              <a:rPr lang="en-GB" dirty="0" err="1"/>
              <a:t>figsize</a:t>
            </a:r>
            <a:r>
              <a:rPr lang="en-GB" dirty="0"/>
              <a:t>=(8,5))</a:t>
            </a:r>
          </a:p>
          <a:p>
            <a:r>
              <a:rPr lang="en-GB" dirty="0" err="1"/>
              <a:t>plt.plot</a:t>
            </a:r>
            <a:r>
              <a:rPr lang="en-GB" dirty="0"/>
              <a:t>(gaps * 1e6, capacitances * 1e15, label='Calculated Capacitance (Formula)')</a:t>
            </a:r>
          </a:p>
          <a:p>
            <a:r>
              <a:rPr lang="en-GB" dirty="0" err="1"/>
              <a:t>plt.scatter</a:t>
            </a:r>
            <a:r>
              <a:rPr lang="en-GB" dirty="0"/>
              <a:t>(</a:t>
            </a:r>
            <a:r>
              <a:rPr lang="en-GB" dirty="0" err="1"/>
              <a:t>literature_gaps</a:t>
            </a:r>
            <a:r>
              <a:rPr lang="en-GB" dirty="0"/>
              <a:t>, </a:t>
            </a:r>
            <a:r>
              <a:rPr lang="en-GB" dirty="0" err="1"/>
              <a:t>literature_caps</a:t>
            </a:r>
            <a:r>
              <a:rPr lang="en-GB" dirty="0"/>
              <a:t>, </a:t>
            </a:r>
            <a:r>
              <a:rPr lang="en-GB" dirty="0" err="1"/>
              <a:t>color</a:t>
            </a:r>
            <a:r>
              <a:rPr lang="en-GB" dirty="0"/>
              <a:t>='green', marker='s', label='Literature Data', </a:t>
            </a:r>
            <a:r>
              <a:rPr lang="en-GB" dirty="0" err="1"/>
              <a:t>zorder</a:t>
            </a:r>
            <a:r>
              <a:rPr lang="en-GB" dirty="0"/>
              <a:t>=5)</a:t>
            </a:r>
          </a:p>
          <a:p>
            <a:endParaRPr lang="en-GB" dirty="0"/>
          </a:p>
          <a:p>
            <a:r>
              <a:rPr lang="en-GB" dirty="0"/>
              <a:t># Annotate literature points with smaller text and background box for clarity</a:t>
            </a:r>
          </a:p>
          <a:p>
            <a:r>
              <a:rPr lang="en-GB" dirty="0"/>
              <a:t>for gap, cap, label in zip(</a:t>
            </a:r>
            <a:r>
              <a:rPr lang="en-GB" dirty="0" err="1"/>
              <a:t>literature_gaps</a:t>
            </a:r>
            <a:r>
              <a:rPr lang="en-GB" dirty="0"/>
              <a:t>, </a:t>
            </a:r>
            <a:r>
              <a:rPr lang="en-GB" dirty="0" err="1"/>
              <a:t>literature_caps</a:t>
            </a:r>
            <a:r>
              <a:rPr lang="en-GB" dirty="0"/>
              <a:t>, </a:t>
            </a:r>
            <a:r>
              <a:rPr lang="en-GB" dirty="0" err="1"/>
              <a:t>literature_ids</a:t>
            </a:r>
            <a:r>
              <a:rPr lang="en-GB" dirty="0"/>
              <a:t>):</a:t>
            </a:r>
          </a:p>
          <a:p>
            <a:r>
              <a:rPr lang="en-GB" dirty="0"/>
              <a:t>    </a:t>
            </a:r>
            <a:r>
              <a:rPr lang="en-GB" dirty="0" err="1"/>
              <a:t>plt.annotate</a:t>
            </a:r>
            <a:r>
              <a:rPr lang="en-GB" dirty="0"/>
              <a:t>(label,</a:t>
            </a:r>
          </a:p>
          <a:p>
            <a:r>
              <a:rPr lang="en-GB" dirty="0"/>
              <a:t>                 (gap, cap),</a:t>
            </a:r>
          </a:p>
          <a:p>
            <a:r>
              <a:rPr lang="en-GB" dirty="0"/>
              <a:t>                 </a:t>
            </a:r>
            <a:r>
              <a:rPr lang="en-GB" dirty="0" err="1"/>
              <a:t>textcoords</a:t>
            </a:r>
            <a:r>
              <a:rPr lang="en-GB" dirty="0"/>
              <a:t>="offset points",</a:t>
            </a:r>
          </a:p>
          <a:p>
            <a:r>
              <a:rPr lang="en-GB" dirty="0"/>
              <a:t>                 </a:t>
            </a:r>
            <a:r>
              <a:rPr lang="en-GB" dirty="0" err="1"/>
              <a:t>xytext</a:t>
            </a:r>
            <a:r>
              <a:rPr lang="en-GB" dirty="0"/>
              <a:t>=(8, 6),</a:t>
            </a:r>
          </a:p>
          <a:p>
            <a:r>
              <a:rPr lang="en-GB" dirty="0"/>
              <a:t>                 ha='left',</a:t>
            </a:r>
          </a:p>
          <a:p>
            <a:r>
              <a:rPr lang="en-GB" dirty="0"/>
              <a:t>                 </a:t>
            </a:r>
            <a:r>
              <a:rPr lang="en-GB" dirty="0" err="1"/>
              <a:t>fontsize</a:t>
            </a:r>
            <a:r>
              <a:rPr lang="en-GB" dirty="0"/>
              <a:t>=9,</a:t>
            </a:r>
          </a:p>
          <a:p>
            <a:r>
              <a:rPr lang="en-GB" dirty="0"/>
              <a:t>                 </a:t>
            </a:r>
            <a:r>
              <a:rPr lang="en-GB" dirty="0" err="1"/>
              <a:t>fontweight</a:t>
            </a:r>
            <a:r>
              <a:rPr lang="en-GB" dirty="0"/>
              <a:t>='bold',</a:t>
            </a:r>
          </a:p>
          <a:p>
            <a:r>
              <a:rPr lang="en-GB" dirty="0"/>
              <a:t>                 </a:t>
            </a:r>
            <a:r>
              <a:rPr lang="en-GB" dirty="0" err="1"/>
              <a:t>color</a:t>
            </a:r>
            <a:r>
              <a:rPr lang="en-GB" dirty="0"/>
              <a:t>='black',</a:t>
            </a:r>
          </a:p>
          <a:p>
            <a:r>
              <a:rPr lang="en-GB" dirty="0"/>
              <a:t>                 </a:t>
            </a:r>
            <a:r>
              <a:rPr lang="en-GB" dirty="0" err="1"/>
              <a:t>bbox</a:t>
            </a:r>
            <a:r>
              <a:rPr lang="en-GB" dirty="0"/>
              <a:t>=</a:t>
            </a:r>
            <a:r>
              <a:rPr lang="en-GB" dirty="0" err="1"/>
              <a:t>dict</a:t>
            </a:r>
            <a:r>
              <a:rPr lang="en-GB" dirty="0"/>
              <a:t>(</a:t>
            </a:r>
            <a:r>
              <a:rPr lang="en-GB" dirty="0" err="1"/>
              <a:t>boxstyle</a:t>
            </a:r>
            <a:r>
              <a:rPr lang="en-GB" dirty="0"/>
              <a:t>='</a:t>
            </a:r>
            <a:r>
              <a:rPr lang="en-GB" dirty="0" err="1"/>
              <a:t>round,pad</a:t>
            </a:r>
            <a:r>
              <a:rPr lang="en-GB" dirty="0"/>
              <a:t>=0.3', fc='white', alpha=0.75, </a:t>
            </a:r>
            <a:r>
              <a:rPr lang="en-GB" dirty="0" err="1"/>
              <a:t>lw</a:t>
            </a:r>
            <a:r>
              <a:rPr lang="en-GB" dirty="0"/>
              <a:t>=0))</a:t>
            </a:r>
          </a:p>
          <a:p>
            <a:endParaRPr lang="en-GB" dirty="0"/>
          </a:p>
          <a:p>
            <a:r>
              <a:rPr lang="en-GB" dirty="0"/>
              <a:t># Mark the 1 </a:t>
            </a:r>
            <a:r>
              <a:rPr lang="en-GB" dirty="0" err="1"/>
              <a:t>fF</a:t>
            </a:r>
            <a:r>
              <a:rPr lang="en-GB" dirty="0"/>
              <a:t> point on the plot</a:t>
            </a:r>
          </a:p>
          <a:p>
            <a:r>
              <a:rPr lang="en-GB" dirty="0" err="1"/>
              <a:t>plt.scatter</a:t>
            </a:r>
            <a:r>
              <a:rPr lang="en-GB" dirty="0"/>
              <a:t>(g_at_1fF * 1e6, 1, </a:t>
            </a:r>
            <a:r>
              <a:rPr lang="en-GB" dirty="0" err="1"/>
              <a:t>color</a:t>
            </a:r>
            <a:r>
              <a:rPr lang="en-GB" dirty="0"/>
              <a:t>='red', </a:t>
            </a:r>
            <a:r>
              <a:rPr lang="en-GB" dirty="0" err="1"/>
              <a:t>zorder</a:t>
            </a:r>
            <a:r>
              <a:rPr lang="en-GB" dirty="0"/>
              <a:t>=6)</a:t>
            </a:r>
          </a:p>
          <a:p>
            <a:r>
              <a:rPr lang="en-GB" dirty="0" err="1"/>
              <a:t>plt.annotate</a:t>
            </a:r>
            <a:r>
              <a:rPr lang="en-GB" dirty="0"/>
              <a:t>(f'({g_at_1fF*1e6:.2f} </a:t>
            </a:r>
            <a:r>
              <a:rPr lang="el-GR" dirty="0"/>
              <a:t>μ</a:t>
            </a:r>
            <a:r>
              <a:rPr lang="en-GB" dirty="0"/>
              <a:t>m, 1 </a:t>
            </a:r>
            <a:r>
              <a:rPr lang="en-GB" dirty="0" err="1"/>
              <a:t>fF</a:t>
            </a:r>
            <a:r>
              <a:rPr lang="en-GB" dirty="0"/>
              <a:t>)',</a:t>
            </a:r>
          </a:p>
          <a:p>
            <a:r>
              <a:rPr lang="en-GB" dirty="0"/>
              <a:t>             </a:t>
            </a:r>
            <a:r>
              <a:rPr lang="en-GB" dirty="0" err="1"/>
              <a:t>xy</a:t>
            </a:r>
            <a:r>
              <a:rPr lang="en-GB" dirty="0"/>
              <a:t>=(g_at_1fF * 1e6, 1), </a:t>
            </a:r>
          </a:p>
          <a:p>
            <a:r>
              <a:rPr lang="en-GB" dirty="0"/>
              <a:t>             </a:t>
            </a:r>
            <a:r>
              <a:rPr lang="en-GB" dirty="0" err="1"/>
              <a:t>xytext</a:t>
            </a:r>
            <a:r>
              <a:rPr lang="en-GB" dirty="0"/>
              <a:t>=(g_at_1fF*1e6+20, 1.5),</a:t>
            </a:r>
          </a:p>
          <a:p>
            <a:r>
              <a:rPr lang="en-GB" dirty="0"/>
              <a:t>             </a:t>
            </a:r>
            <a:r>
              <a:rPr lang="en-GB" dirty="0" err="1"/>
              <a:t>arrowprops</a:t>
            </a:r>
            <a:r>
              <a:rPr lang="en-GB" dirty="0"/>
              <a:t>=</a:t>
            </a:r>
            <a:r>
              <a:rPr lang="en-GB" dirty="0" err="1"/>
              <a:t>dict</a:t>
            </a:r>
            <a:r>
              <a:rPr lang="en-GB" dirty="0"/>
              <a:t>(</a:t>
            </a:r>
            <a:r>
              <a:rPr lang="en-GB" dirty="0" err="1"/>
              <a:t>facecolor</a:t>
            </a:r>
            <a:r>
              <a:rPr lang="en-GB" dirty="0"/>
              <a:t>='red', shrink=0.05),</a:t>
            </a:r>
          </a:p>
          <a:p>
            <a:r>
              <a:rPr lang="en-GB" dirty="0"/>
              <a:t>             </a:t>
            </a:r>
            <a:r>
              <a:rPr lang="en-GB" dirty="0" err="1"/>
              <a:t>fontsize</a:t>
            </a:r>
            <a:r>
              <a:rPr lang="en-GB" dirty="0"/>
              <a:t>=10,</a:t>
            </a:r>
          </a:p>
          <a:p>
            <a:r>
              <a:rPr lang="en-GB" dirty="0"/>
              <a:t>             </a:t>
            </a:r>
            <a:r>
              <a:rPr lang="en-GB" dirty="0" err="1"/>
              <a:t>color</a:t>
            </a:r>
            <a:r>
              <a:rPr lang="en-GB" dirty="0"/>
              <a:t>='red')</a:t>
            </a:r>
          </a:p>
          <a:p>
            <a:endParaRPr lang="en-GB" dirty="0"/>
          </a:p>
          <a:p>
            <a:r>
              <a:rPr lang="en-GB" dirty="0" err="1"/>
              <a:t>plt.xlabel</a:t>
            </a:r>
            <a:r>
              <a:rPr lang="en-GB" dirty="0"/>
              <a:t>('Gap width $g$ (</a:t>
            </a:r>
            <a:r>
              <a:rPr lang="el-GR" dirty="0"/>
              <a:t>μ</a:t>
            </a:r>
            <a:r>
              <a:rPr lang="en-GB" dirty="0"/>
              <a:t>m)')</a:t>
            </a:r>
          </a:p>
          <a:p>
            <a:r>
              <a:rPr lang="en-GB" dirty="0" err="1"/>
              <a:t>plt.ylabel</a:t>
            </a:r>
            <a:r>
              <a:rPr lang="en-GB" dirty="0"/>
              <a:t>('Equivalent Capacitance $C$ (</a:t>
            </a:r>
            <a:r>
              <a:rPr lang="en-GB" dirty="0" err="1"/>
              <a:t>fF</a:t>
            </a:r>
            <a:r>
              <a:rPr lang="en-GB" dirty="0"/>
              <a:t>)')</a:t>
            </a:r>
          </a:p>
          <a:p>
            <a:r>
              <a:rPr lang="en-GB" dirty="0" err="1"/>
              <a:t>plt.title</a:t>
            </a:r>
            <a:r>
              <a:rPr lang="en-GB" dirty="0"/>
              <a:t>('Equivalent Capacitance vs Gap Width for CPW Series Gap')</a:t>
            </a:r>
          </a:p>
          <a:p>
            <a:endParaRPr lang="en-GB" dirty="0"/>
          </a:p>
          <a:p>
            <a:r>
              <a:rPr lang="en-GB" dirty="0" err="1"/>
              <a:t>plt.grid</a:t>
            </a:r>
            <a:r>
              <a:rPr lang="en-GB" dirty="0"/>
              <a:t>(True)</a:t>
            </a:r>
          </a:p>
          <a:p>
            <a:r>
              <a:rPr lang="en-GB" dirty="0" err="1"/>
              <a:t>plt.legend</a:t>
            </a:r>
            <a:r>
              <a:rPr lang="en-GB" dirty="0"/>
              <a:t>()</a:t>
            </a:r>
          </a:p>
          <a:p>
            <a:endParaRPr lang="en-GB" dirty="0"/>
          </a:p>
          <a:p>
            <a:r>
              <a:rPr lang="en-GB" dirty="0" err="1"/>
              <a:t>plt.show</a:t>
            </a:r>
            <a:r>
              <a:rPr lang="en-GB" dirty="0"/>
              <a:t>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3192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84F8F-0452-9228-B816-9C6B8729A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F3A29F-50D6-7E7F-EC3E-9DE085BAB0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D2E99B-55DF-9702-5794-568CDE832A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C43585-E517-3817-AB2B-11F54068C9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7747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1774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# -*- coding: utf-8 -*-</a:t>
            </a:r>
          </a:p>
          <a:p>
            <a:r>
              <a:rPr lang="en-GB" dirty="0"/>
              <a:t>"""</a:t>
            </a:r>
          </a:p>
          <a:p>
            <a:r>
              <a:rPr lang="en-GB" dirty="0"/>
              <a:t>Created on Mon Jun 30 18:37:02 2025</a:t>
            </a:r>
          </a:p>
          <a:p>
            <a:endParaRPr lang="en-GB" dirty="0"/>
          </a:p>
          <a:p>
            <a:r>
              <a:rPr lang="en-GB" dirty="0"/>
              <a:t>@author: </a:t>
            </a:r>
            <a:r>
              <a:rPr lang="en-GB" dirty="0" err="1"/>
              <a:t>abkhu</a:t>
            </a:r>
            <a:endParaRPr lang="en-GB" dirty="0"/>
          </a:p>
          <a:p>
            <a:r>
              <a:rPr lang="en-GB" dirty="0"/>
              <a:t>"""</a:t>
            </a:r>
          </a:p>
          <a:p>
            <a:endParaRPr lang="en-GB" dirty="0"/>
          </a:p>
          <a:p>
            <a:r>
              <a:rPr lang="en-GB" dirty="0"/>
              <a:t>import </a:t>
            </a:r>
            <a:r>
              <a:rPr lang="en-GB" dirty="0" err="1"/>
              <a:t>numpy</a:t>
            </a:r>
            <a:r>
              <a:rPr lang="en-GB" dirty="0"/>
              <a:t> as np</a:t>
            </a:r>
          </a:p>
          <a:p>
            <a:r>
              <a:rPr lang="en-GB" dirty="0"/>
              <a:t>import </a:t>
            </a:r>
            <a:r>
              <a:rPr lang="en-GB" dirty="0" err="1"/>
              <a:t>matplotlib.pyplot</a:t>
            </a:r>
            <a:r>
              <a:rPr lang="en-GB" dirty="0"/>
              <a:t> as </a:t>
            </a:r>
            <a:r>
              <a:rPr lang="en-GB" dirty="0" err="1"/>
              <a:t>plt</a:t>
            </a:r>
            <a:endParaRPr lang="en-GB" dirty="0"/>
          </a:p>
          <a:p>
            <a:r>
              <a:rPr lang="en-GB" dirty="0"/>
              <a:t>from </a:t>
            </a:r>
            <a:r>
              <a:rPr lang="en-GB" dirty="0" err="1"/>
              <a:t>scipy.special</a:t>
            </a:r>
            <a:r>
              <a:rPr lang="en-GB" dirty="0"/>
              <a:t> import </a:t>
            </a:r>
            <a:r>
              <a:rPr lang="en-GB" dirty="0" err="1"/>
              <a:t>ellipk</a:t>
            </a:r>
            <a:endParaRPr lang="en-GB" dirty="0"/>
          </a:p>
          <a:p>
            <a:endParaRPr lang="en-GB" dirty="0"/>
          </a:p>
          <a:p>
            <a:r>
              <a:rPr lang="en-GB" dirty="0"/>
              <a:t># Constants</a:t>
            </a:r>
          </a:p>
          <a:p>
            <a:r>
              <a:rPr lang="en-GB" dirty="0"/>
              <a:t>epsilon_0 = 8.854e-12  # Vacuum permittivity (F/m)</a:t>
            </a:r>
          </a:p>
          <a:p>
            <a:r>
              <a:rPr lang="en-GB" dirty="0" err="1"/>
              <a:t>epsilon_eff</a:t>
            </a:r>
            <a:r>
              <a:rPr lang="en-GB" dirty="0"/>
              <a:t> = 5.05     # Effective dielectric constant from paper</a:t>
            </a:r>
          </a:p>
          <a:p>
            <a:endParaRPr lang="en-GB" dirty="0"/>
          </a:p>
          <a:p>
            <a:r>
              <a:rPr lang="en-GB" dirty="0"/>
              <a:t># Finger parameters (in meters)</a:t>
            </a:r>
          </a:p>
          <a:p>
            <a:r>
              <a:rPr lang="en-GB" dirty="0"/>
              <a:t>w = 3.3e-6   # Finger width (3.3 µm)</a:t>
            </a:r>
          </a:p>
          <a:p>
            <a:r>
              <a:rPr lang="en-GB" dirty="0"/>
              <a:t>s = 3.3e-6   # Finger spacing (3.3 µm)</a:t>
            </a:r>
          </a:p>
          <a:p>
            <a:r>
              <a:rPr lang="en-GB" dirty="0" err="1"/>
              <a:t>lf_range</a:t>
            </a:r>
            <a:r>
              <a:rPr lang="en-GB" dirty="0"/>
              <a:t> = </a:t>
            </a:r>
            <a:r>
              <a:rPr lang="en-GB" dirty="0" err="1"/>
              <a:t>np.linspace</a:t>
            </a:r>
            <a:r>
              <a:rPr lang="en-GB" dirty="0"/>
              <a:t>(10e-6, 150e-6, 500)  # Finger length from 10 µm to 150 µm</a:t>
            </a:r>
          </a:p>
          <a:p>
            <a:endParaRPr lang="en-GB" dirty="0"/>
          </a:p>
          <a:p>
            <a:r>
              <a:rPr lang="en-GB" dirty="0"/>
              <a:t>def </a:t>
            </a:r>
            <a:r>
              <a:rPr lang="en-GB" dirty="0" err="1"/>
              <a:t>capacitance_per_length</a:t>
            </a:r>
            <a:r>
              <a:rPr lang="en-GB" dirty="0"/>
              <a:t>(w, s, </a:t>
            </a:r>
            <a:r>
              <a:rPr lang="en-GB" dirty="0" err="1"/>
              <a:t>epsilon_eff</a:t>
            </a:r>
            <a:r>
              <a:rPr lang="en-GB" dirty="0"/>
              <a:t>):</a:t>
            </a:r>
          </a:p>
          <a:p>
            <a:r>
              <a:rPr lang="en-GB" dirty="0"/>
              <a:t>    """</a:t>
            </a:r>
          </a:p>
          <a:p>
            <a:r>
              <a:rPr lang="en-GB" dirty="0"/>
              <a:t>    Calculate capacitance per unit length (F/m) using conformal mapping.</a:t>
            </a:r>
          </a:p>
          <a:p>
            <a:r>
              <a:rPr lang="en-GB" dirty="0"/>
              <a:t>    """</a:t>
            </a:r>
          </a:p>
          <a:p>
            <a:r>
              <a:rPr lang="en-GB" dirty="0"/>
              <a:t>    k = w / (w + 2 * s)</a:t>
            </a:r>
          </a:p>
          <a:p>
            <a:r>
              <a:rPr lang="en-GB" dirty="0"/>
              <a:t>    </a:t>
            </a:r>
            <a:r>
              <a:rPr lang="en-GB" dirty="0" err="1"/>
              <a:t>k_prime</a:t>
            </a:r>
            <a:r>
              <a:rPr lang="en-GB" dirty="0"/>
              <a:t> = </a:t>
            </a:r>
            <a:r>
              <a:rPr lang="en-GB" dirty="0" err="1"/>
              <a:t>np.sqrt</a:t>
            </a:r>
            <a:r>
              <a:rPr lang="en-GB" dirty="0"/>
              <a:t>(1 - k**2)</a:t>
            </a:r>
          </a:p>
          <a:p>
            <a:r>
              <a:rPr lang="en-GB" dirty="0"/>
              <a:t>    </a:t>
            </a:r>
            <a:r>
              <a:rPr lang="en-GB" dirty="0" err="1"/>
              <a:t>K_k</a:t>
            </a:r>
            <a:r>
              <a:rPr lang="en-GB" dirty="0"/>
              <a:t> = </a:t>
            </a:r>
            <a:r>
              <a:rPr lang="en-GB" dirty="0" err="1"/>
              <a:t>ellipk</a:t>
            </a:r>
            <a:r>
              <a:rPr lang="en-GB" dirty="0"/>
              <a:t>(k**2)</a:t>
            </a:r>
          </a:p>
          <a:p>
            <a:r>
              <a:rPr lang="en-GB" dirty="0"/>
              <a:t>    </a:t>
            </a:r>
            <a:r>
              <a:rPr lang="en-GB" dirty="0" err="1"/>
              <a:t>K_k_prime</a:t>
            </a:r>
            <a:r>
              <a:rPr lang="en-GB" dirty="0"/>
              <a:t> = </a:t>
            </a:r>
            <a:r>
              <a:rPr lang="en-GB" dirty="0" err="1"/>
              <a:t>ellipk</a:t>
            </a:r>
            <a:r>
              <a:rPr lang="en-GB" dirty="0"/>
              <a:t>(</a:t>
            </a:r>
            <a:r>
              <a:rPr lang="en-GB" dirty="0" err="1"/>
              <a:t>k_prime</a:t>
            </a:r>
            <a:r>
              <a:rPr lang="en-GB" dirty="0"/>
              <a:t>**2)</a:t>
            </a:r>
          </a:p>
          <a:p>
            <a:r>
              <a:rPr lang="en-GB" dirty="0"/>
              <a:t>    </a:t>
            </a:r>
          </a:p>
          <a:p>
            <a:r>
              <a:rPr lang="en-GB" dirty="0"/>
              <a:t>    </a:t>
            </a:r>
            <a:r>
              <a:rPr lang="en-GB" dirty="0" err="1"/>
              <a:t>cf</a:t>
            </a:r>
            <a:r>
              <a:rPr lang="en-GB" dirty="0"/>
              <a:t> = 2 * epsilon_0 * </a:t>
            </a:r>
            <a:r>
              <a:rPr lang="en-GB" dirty="0" err="1"/>
              <a:t>epsilon_eff</a:t>
            </a:r>
            <a:r>
              <a:rPr lang="en-GB" dirty="0"/>
              <a:t> * </a:t>
            </a:r>
            <a:r>
              <a:rPr lang="en-GB" dirty="0" err="1"/>
              <a:t>K_k</a:t>
            </a:r>
            <a:r>
              <a:rPr lang="en-GB" dirty="0"/>
              <a:t> / </a:t>
            </a:r>
            <a:r>
              <a:rPr lang="en-GB" dirty="0" err="1"/>
              <a:t>K_k_prime</a:t>
            </a:r>
            <a:endParaRPr lang="en-GB" dirty="0"/>
          </a:p>
          <a:p>
            <a:r>
              <a:rPr lang="en-GB" dirty="0"/>
              <a:t>    return </a:t>
            </a:r>
            <a:r>
              <a:rPr lang="en-GB" dirty="0" err="1"/>
              <a:t>cf</a:t>
            </a:r>
            <a:r>
              <a:rPr lang="en-GB" dirty="0"/>
              <a:t>  # F/m</a:t>
            </a:r>
          </a:p>
          <a:p>
            <a:endParaRPr lang="en-GB" dirty="0"/>
          </a:p>
          <a:p>
            <a:r>
              <a:rPr lang="en-GB" dirty="0"/>
              <a:t># Compute per unit length capacitance</a:t>
            </a:r>
          </a:p>
          <a:p>
            <a:r>
              <a:rPr lang="en-GB" dirty="0" err="1"/>
              <a:t>cf</a:t>
            </a:r>
            <a:r>
              <a:rPr lang="en-GB" dirty="0"/>
              <a:t> = </a:t>
            </a:r>
            <a:r>
              <a:rPr lang="en-GB" dirty="0" err="1"/>
              <a:t>capacitance_per_length</a:t>
            </a:r>
            <a:r>
              <a:rPr lang="en-GB" dirty="0"/>
              <a:t>(w, s, </a:t>
            </a:r>
            <a:r>
              <a:rPr lang="en-GB" dirty="0" err="1"/>
              <a:t>epsilon_eff</a:t>
            </a:r>
            <a:r>
              <a:rPr lang="en-GB" dirty="0"/>
              <a:t>)  # F/m</a:t>
            </a:r>
          </a:p>
          <a:p>
            <a:endParaRPr lang="en-GB" dirty="0"/>
          </a:p>
          <a:p>
            <a:r>
              <a:rPr lang="en-GB" dirty="0" err="1"/>
              <a:t>plt.figure</a:t>
            </a:r>
            <a:r>
              <a:rPr lang="en-GB" dirty="0"/>
              <a:t>(</a:t>
            </a:r>
            <a:r>
              <a:rPr lang="en-GB" dirty="0" err="1"/>
              <a:t>figsize</a:t>
            </a:r>
            <a:r>
              <a:rPr lang="en-GB" dirty="0"/>
              <a:t>=(8,5))</a:t>
            </a:r>
          </a:p>
          <a:p>
            <a:endParaRPr lang="en-GB" dirty="0"/>
          </a:p>
          <a:p>
            <a:r>
              <a:rPr lang="en-GB" dirty="0"/>
              <a:t># Plot for multiple finger pairs (1+1 up to 8+8)</a:t>
            </a:r>
          </a:p>
          <a:p>
            <a:r>
              <a:rPr lang="en-GB" dirty="0"/>
              <a:t>for fingers in range(1, 9):</a:t>
            </a:r>
          </a:p>
          <a:p>
            <a:r>
              <a:rPr lang="en-GB" dirty="0"/>
              <a:t>    </a:t>
            </a:r>
            <a:r>
              <a:rPr lang="en-GB" dirty="0" err="1"/>
              <a:t>C_total</a:t>
            </a:r>
            <a:r>
              <a:rPr lang="en-GB" dirty="0"/>
              <a:t> = </a:t>
            </a:r>
            <a:r>
              <a:rPr lang="en-GB" dirty="0" err="1"/>
              <a:t>cf</a:t>
            </a:r>
            <a:r>
              <a:rPr lang="en-GB" dirty="0"/>
              <a:t> * </a:t>
            </a:r>
            <a:r>
              <a:rPr lang="en-GB" dirty="0" err="1"/>
              <a:t>lf_range</a:t>
            </a:r>
            <a:r>
              <a:rPr lang="en-GB" dirty="0"/>
              <a:t> * fingers  # Total capacitance = per length * finger length * number of pairs</a:t>
            </a:r>
          </a:p>
          <a:p>
            <a:r>
              <a:rPr lang="en-GB" dirty="0"/>
              <a:t>    </a:t>
            </a:r>
            <a:r>
              <a:rPr lang="en-GB" dirty="0" err="1"/>
              <a:t>C_total_fF</a:t>
            </a:r>
            <a:r>
              <a:rPr lang="en-GB" dirty="0"/>
              <a:t> = </a:t>
            </a:r>
            <a:r>
              <a:rPr lang="en-GB" dirty="0" err="1"/>
              <a:t>C_total</a:t>
            </a:r>
            <a:r>
              <a:rPr lang="en-GB" dirty="0"/>
              <a:t> * 1e15</a:t>
            </a:r>
          </a:p>
          <a:p>
            <a:r>
              <a:rPr lang="en-GB" dirty="0"/>
              <a:t>    </a:t>
            </a:r>
            <a:r>
              <a:rPr lang="en-GB" dirty="0" err="1"/>
              <a:t>plt.plot</a:t>
            </a:r>
            <a:r>
              <a:rPr lang="en-GB" dirty="0"/>
              <a:t>(</a:t>
            </a:r>
            <a:r>
              <a:rPr lang="en-GB" dirty="0" err="1"/>
              <a:t>lf_range</a:t>
            </a:r>
            <a:r>
              <a:rPr lang="en-GB" dirty="0"/>
              <a:t> * 1e6, </a:t>
            </a:r>
            <a:r>
              <a:rPr lang="en-GB" dirty="0" err="1"/>
              <a:t>C_total_fF</a:t>
            </a:r>
            <a:r>
              <a:rPr lang="en-GB" dirty="0"/>
              <a:t>, label=f'{fingers}+{fingers} fingers')</a:t>
            </a:r>
          </a:p>
          <a:p>
            <a:endParaRPr lang="en-GB" dirty="0"/>
          </a:p>
          <a:p>
            <a:r>
              <a:rPr lang="en-GB" dirty="0"/>
              <a:t># Experimental value for 1+1 fingers at 100 µm</a:t>
            </a:r>
          </a:p>
          <a:p>
            <a:r>
              <a:rPr lang="en-GB" dirty="0" err="1"/>
              <a:t>lf_exp</a:t>
            </a:r>
            <a:r>
              <a:rPr lang="en-GB" dirty="0"/>
              <a:t> = 100e-6</a:t>
            </a:r>
          </a:p>
          <a:p>
            <a:r>
              <a:rPr lang="en-GB" dirty="0" err="1"/>
              <a:t>C_exp</a:t>
            </a:r>
            <a:r>
              <a:rPr lang="en-GB" dirty="0"/>
              <a:t> = 3.98  # </a:t>
            </a:r>
            <a:r>
              <a:rPr lang="en-GB" dirty="0" err="1"/>
              <a:t>fF</a:t>
            </a:r>
            <a:r>
              <a:rPr lang="en-GB" dirty="0"/>
              <a:t> (from paper)</a:t>
            </a:r>
          </a:p>
          <a:p>
            <a:r>
              <a:rPr lang="en-GB" dirty="0" err="1"/>
              <a:t>plt.scatter</a:t>
            </a:r>
            <a:r>
              <a:rPr lang="en-GB" dirty="0"/>
              <a:t>([</a:t>
            </a:r>
            <a:r>
              <a:rPr lang="en-GB" dirty="0" err="1"/>
              <a:t>lf_exp</a:t>
            </a:r>
            <a:r>
              <a:rPr lang="en-GB" dirty="0"/>
              <a:t> * 1e6], [</a:t>
            </a:r>
            <a:r>
              <a:rPr lang="en-GB" dirty="0" err="1"/>
              <a:t>C_exp</a:t>
            </a:r>
            <a:r>
              <a:rPr lang="en-GB" dirty="0"/>
              <a:t>], </a:t>
            </a:r>
            <a:r>
              <a:rPr lang="en-GB" dirty="0" err="1"/>
              <a:t>color</a:t>
            </a:r>
            <a:r>
              <a:rPr lang="en-GB" dirty="0"/>
              <a:t>='red', label='Experimental 1+1 (3.98 </a:t>
            </a:r>
            <a:r>
              <a:rPr lang="en-GB" dirty="0" err="1"/>
              <a:t>fF</a:t>
            </a:r>
            <a:r>
              <a:rPr lang="en-GB" dirty="0"/>
              <a:t>)', </a:t>
            </a:r>
            <a:r>
              <a:rPr lang="en-GB" dirty="0" err="1"/>
              <a:t>zorder</a:t>
            </a:r>
            <a:r>
              <a:rPr lang="en-GB" dirty="0"/>
              <a:t>=5, s=100)</a:t>
            </a:r>
          </a:p>
          <a:p>
            <a:endParaRPr lang="en-GB" dirty="0"/>
          </a:p>
          <a:p>
            <a:r>
              <a:rPr lang="en-GB" dirty="0"/>
              <a:t># Model value for 1+1 fingers at 100 µm</a:t>
            </a:r>
          </a:p>
          <a:p>
            <a:r>
              <a:rPr lang="en-GB" dirty="0" err="1"/>
              <a:t>C_model_exp</a:t>
            </a:r>
            <a:r>
              <a:rPr lang="en-GB" dirty="0"/>
              <a:t> = </a:t>
            </a:r>
            <a:r>
              <a:rPr lang="en-GB" dirty="0" err="1"/>
              <a:t>cf</a:t>
            </a:r>
            <a:r>
              <a:rPr lang="en-GB" dirty="0"/>
              <a:t> * </a:t>
            </a:r>
            <a:r>
              <a:rPr lang="en-GB" dirty="0" err="1"/>
              <a:t>lf_exp</a:t>
            </a:r>
            <a:r>
              <a:rPr lang="en-GB" dirty="0"/>
              <a:t> * 1e15  # in </a:t>
            </a:r>
            <a:r>
              <a:rPr lang="en-GB" dirty="0" err="1"/>
              <a:t>fF</a:t>
            </a:r>
            <a:endParaRPr lang="en-GB" dirty="0"/>
          </a:p>
          <a:p>
            <a:r>
              <a:rPr lang="en-GB" dirty="0" err="1"/>
              <a:t>plt.scatter</a:t>
            </a:r>
            <a:r>
              <a:rPr lang="en-GB" dirty="0"/>
              <a:t>([</a:t>
            </a:r>
            <a:r>
              <a:rPr lang="en-GB" dirty="0" err="1"/>
              <a:t>lf_exp</a:t>
            </a:r>
            <a:r>
              <a:rPr lang="en-GB" dirty="0"/>
              <a:t> * 1e6], [</a:t>
            </a:r>
            <a:r>
              <a:rPr lang="en-GB" dirty="0" err="1"/>
              <a:t>C_model_exp</a:t>
            </a:r>
            <a:r>
              <a:rPr lang="en-GB" dirty="0"/>
              <a:t>], </a:t>
            </a:r>
            <a:r>
              <a:rPr lang="en-GB" dirty="0" err="1"/>
              <a:t>color</a:t>
            </a:r>
            <a:r>
              <a:rPr lang="en-GB" dirty="0"/>
              <a:t>='green', label=</a:t>
            </a:r>
            <a:r>
              <a:rPr lang="en-GB" dirty="0" err="1"/>
              <a:t>f'Model</a:t>
            </a:r>
            <a:r>
              <a:rPr lang="en-GB" dirty="0"/>
              <a:t> 1+1 at 100 µm ({C_model_exp:.2f} </a:t>
            </a:r>
            <a:r>
              <a:rPr lang="en-GB" dirty="0" err="1"/>
              <a:t>fF</a:t>
            </a:r>
            <a:r>
              <a:rPr lang="en-GB" dirty="0"/>
              <a:t>)', </a:t>
            </a:r>
            <a:r>
              <a:rPr lang="en-GB" dirty="0" err="1"/>
              <a:t>zorder</a:t>
            </a:r>
            <a:r>
              <a:rPr lang="en-GB" dirty="0"/>
              <a:t>=6, s=100)</a:t>
            </a:r>
          </a:p>
          <a:p>
            <a:endParaRPr lang="en-GB" dirty="0"/>
          </a:p>
          <a:p>
            <a:r>
              <a:rPr lang="en-GB" dirty="0" err="1"/>
              <a:t>plt.title</a:t>
            </a:r>
            <a:r>
              <a:rPr lang="en-GB" dirty="0"/>
              <a:t>('Coupling Capacitance vs. Finger Length for 1+1 to 8+8 Finger Design')</a:t>
            </a:r>
          </a:p>
          <a:p>
            <a:r>
              <a:rPr lang="en-GB" dirty="0" err="1"/>
              <a:t>plt.xlabel</a:t>
            </a:r>
            <a:r>
              <a:rPr lang="en-GB" dirty="0"/>
              <a:t>('Finger Length $</a:t>
            </a:r>
            <a:r>
              <a:rPr lang="en-GB" dirty="0" err="1"/>
              <a:t>L_f</a:t>
            </a:r>
            <a:r>
              <a:rPr lang="en-GB" dirty="0"/>
              <a:t>$ (µm)')</a:t>
            </a:r>
          </a:p>
          <a:p>
            <a:r>
              <a:rPr lang="en-GB" dirty="0" err="1"/>
              <a:t>plt.ylabel</a:t>
            </a:r>
            <a:r>
              <a:rPr lang="en-GB" dirty="0"/>
              <a:t>('Coupling Capacitance $</a:t>
            </a:r>
            <a:r>
              <a:rPr lang="en-GB" dirty="0" err="1"/>
              <a:t>C_k</a:t>
            </a:r>
            <a:r>
              <a:rPr lang="en-GB" dirty="0"/>
              <a:t>$ (</a:t>
            </a:r>
            <a:r>
              <a:rPr lang="en-GB" dirty="0" err="1"/>
              <a:t>fF</a:t>
            </a:r>
            <a:r>
              <a:rPr lang="en-GB" dirty="0"/>
              <a:t>)')</a:t>
            </a:r>
          </a:p>
          <a:p>
            <a:r>
              <a:rPr lang="en-GB" dirty="0" err="1"/>
              <a:t>plt.grid</a:t>
            </a:r>
            <a:r>
              <a:rPr lang="en-GB" dirty="0"/>
              <a:t>(True)</a:t>
            </a:r>
          </a:p>
          <a:p>
            <a:r>
              <a:rPr lang="en-GB" dirty="0" err="1"/>
              <a:t>plt.legend</a:t>
            </a:r>
            <a:r>
              <a:rPr lang="en-GB" dirty="0"/>
              <a:t>(loc='upper left')</a:t>
            </a:r>
          </a:p>
          <a:p>
            <a:r>
              <a:rPr lang="en-GB" dirty="0" err="1"/>
              <a:t>plt.tight_layout</a:t>
            </a:r>
            <a:r>
              <a:rPr lang="en-GB" dirty="0"/>
              <a:t>()</a:t>
            </a:r>
          </a:p>
          <a:p>
            <a:r>
              <a:rPr lang="en-GB" dirty="0" err="1"/>
              <a:t>plt.show</a:t>
            </a:r>
            <a:r>
              <a:rPr lang="en-GB" dirty="0"/>
              <a:t>()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664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25/05/2026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3C3FB-7ECE-B72C-E90B-356177982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Gap &amp; IDC Calculation/Formula used - Overview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47010E0-68F5-F9D0-CFE4-4F092F24B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2047" y="1523655"/>
            <a:ext cx="4354446" cy="2704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4EC17BF1-0B4D-F907-6128-1D1E9A79DB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6292" y="1540407"/>
            <a:ext cx="3585708" cy="2595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E8DFB46A-F14A-A564-9746-A8A49A4A44C0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4717" y="5011669"/>
            <a:ext cx="4643250" cy="1846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F31F0CF-31D0-A0F9-A8A8-667D298F66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9941934"/>
              </p:ext>
            </p:extLst>
          </p:nvPr>
        </p:nvGraphicFramePr>
        <p:xfrm>
          <a:off x="2540001" y="4779910"/>
          <a:ext cx="4354445" cy="20116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841988">
                  <a:extLst>
                    <a:ext uri="{9D8B030D-6E8A-4147-A177-3AD203B41FA5}">
                      <a16:colId xmlns:a16="http://schemas.microsoft.com/office/drawing/2014/main" val="4274287174"/>
                    </a:ext>
                  </a:extLst>
                </a:gridCol>
                <a:gridCol w="531713">
                  <a:extLst>
                    <a:ext uri="{9D8B030D-6E8A-4147-A177-3AD203B41FA5}">
                      <a16:colId xmlns:a16="http://schemas.microsoft.com/office/drawing/2014/main" val="227207904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25789207"/>
                    </a:ext>
                  </a:extLst>
                </a:gridCol>
                <a:gridCol w="1223017">
                  <a:extLst>
                    <a:ext uri="{9D8B030D-6E8A-4147-A177-3AD203B41FA5}">
                      <a16:colId xmlns:a16="http://schemas.microsoft.com/office/drawing/2014/main" val="3138564594"/>
                    </a:ext>
                  </a:extLst>
                </a:gridCol>
                <a:gridCol w="1549447">
                  <a:extLst>
                    <a:ext uri="{9D8B030D-6E8A-4147-A177-3AD203B41FA5}">
                      <a16:colId xmlns:a16="http://schemas.microsoft.com/office/drawing/2014/main" val="1755293577"/>
                    </a:ext>
                  </a:extLst>
                </a:gridCol>
              </a:tblGrid>
              <a:tr h="127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 dirty="0">
                          <a:effectLst/>
                        </a:rPr>
                        <a:t>Capacitance (</a:t>
                      </a:r>
                      <a:r>
                        <a:rPr lang="en-GB" sz="1000" b="1" dirty="0" err="1">
                          <a:effectLst/>
                        </a:rPr>
                        <a:t>fF</a:t>
                      </a:r>
                      <a:r>
                        <a:rPr lang="en-GB" sz="1000" b="1" dirty="0">
                          <a:effectLst/>
                        </a:rPr>
                        <a:t>)</a:t>
                      </a:r>
                      <a:endParaRPr lang="en-GB" sz="10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 dirty="0">
                          <a:effectLst/>
                        </a:rPr>
                        <a:t>Gap Width (</a:t>
                      </a:r>
                      <a:r>
                        <a:rPr lang="el-GR" sz="1000" b="1" dirty="0">
                          <a:effectLst/>
                        </a:rPr>
                        <a:t>μ</a:t>
                      </a:r>
                      <a:r>
                        <a:rPr lang="en-GB" sz="1000" b="1" dirty="0">
                          <a:effectLst/>
                        </a:rPr>
                        <a:t>m)</a:t>
                      </a:r>
                      <a:endParaRPr lang="en-GB" sz="10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>
                          <a:effectLst/>
                        </a:rPr>
                        <a:t>Resonant Frequency f0 (THz)</a:t>
                      </a:r>
                      <a:endParaRPr lang="en-GB" sz="10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 dirty="0">
                          <a:effectLst/>
                        </a:rPr>
                        <a:t>Resonant Length l (µm)</a:t>
                      </a:r>
                      <a:endParaRPr lang="en-GB" sz="10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6299655"/>
                  </a:ext>
                </a:extLst>
              </a:tr>
              <a:tr h="1523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0.265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0.3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178.57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2985517"/>
                  </a:ext>
                </a:extLst>
              </a:tr>
              <a:tr h="1523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>
                          <a:effectLst/>
                        </a:rPr>
                        <a:t>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107.14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4017242"/>
                  </a:ext>
                </a:extLst>
              </a:tr>
              <a:tr h="1523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>
                          <a:effectLst/>
                        </a:rPr>
                        <a:t>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>
                          <a:effectLst/>
                        </a:rPr>
                        <a:t>0.8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>
                          <a:effectLst/>
                        </a:rPr>
                        <a:t>66.96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9155177"/>
                  </a:ext>
                </a:extLst>
              </a:tr>
              <a:tr h="1523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1.14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>
                          <a:effectLst/>
                        </a:rPr>
                        <a:t>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7520339"/>
                  </a:ext>
                </a:extLst>
              </a:tr>
              <a:tr h="1523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0.55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>
                          <a:effectLst/>
                        </a:rPr>
                        <a:t>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164507"/>
                  </a:ext>
                </a:extLst>
              </a:tr>
              <a:tr h="1523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>
                          <a:effectLst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0.3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>
                          <a:effectLst/>
                        </a:rPr>
                        <a:t>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>
                          <a:effectLst/>
                        </a:rPr>
                        <a:t>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2553837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0D476A0D-F288-DF45-44C8-BA47BE23A1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540407"/>
            <a:ext cx="3952249" cy="2687530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8E3FDF2-64D1-F657-FFEA-37E73EB34310}"/>
              </a:ext>
            </a:extLst>
          </p:cNvPr>
          <p:cNvSpPr txBox="1"/>
          <p:nvPr/>
        </p:nvSpPr>
        <p:spPr>
          <a:xfrm>
            <a:off x="8221923" y="4181771"/>
            <a:ext cx="43544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Paper used: https://arxiv.org/abs/0807.4094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D4906D-D36B-CEF0-EC50-C19CE401A1B7}"/>
              </a:ext>
            </a:extLst>
          </p:cNvPr>
          <p:cNvSpPr txBox="1"/>
          <p:nvPr/>
        </p:nvSpPr>
        <p:spPr>
          <a:xfrm>
            <a:off x="683372" y="4181771"/>
            <a:ext cx="54786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Both plots were used to verify the formula against the literature</a:t>
            </a:r>
            <a:endParaRPr lang="en-GB" sz="10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5D8FAF-B168-222D-8872-B2DFBFE2F0B3}"/>
              </a:ext>
            </a:extLst>
          </p:cNvPr>
          <p:cNvSpPr txBox="1"/>
          <p:nvPr/>
        </p:nvSpPr>
        <p:spPr>
          <a:xfrm>
            <a:off x="0" y="4723398"/>
            <a:ext cx="54786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Check the code used for the ID –</a:t>
            </a:r>
          </a:p>
          <a:p>
            <a:r>
              <a:rPr lang="en-GB" sz="1400" dirty="0"/>
              <a:t>capacitor in the notes</a:t>
            </a:r>
            <a:endParaRPr lang="en-GB" sz="1050" dirty="0"/>
          </a:p>
        </p:txBody>
      </p:sp>
    </p:spTree>
    <p:extLst>
      <p:ext uri="{BB962C8B-B14F-4D97-AF65-F5344CB8AC3E}">
        <p14:creationId xmlns:p14="http://schemas.microsoft.com/office/powerpoint/2010/main" val="4269421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53136-EACA-BF73-BFE5-D87A6ACFA5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417" y="1657926"/>
            <a:ext cx="7550471" cy="789709"/>
          </a:xfrm>
        </p:spPr>
        <p:txBody>
          <a:bodyPr>
            <a:normAutofit fontScale="90000"/>
          </a:bodyPr>
          <a:lstStyle/>
          <a:p>
            <a:r>
              <a:rPr lang="en-GB" dirty="0"/>
              <a:t>Gap Capacitor Design &amp; Calculation/Formula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DE3C2A-0FF5-ECC0-A930-682C6465AC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3889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65F17-451E-AA78-F4AF-12AF45D5A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Formula Validity: Equivalent Capacitance for CPW Series Gap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74481-FA19-2693-4C64-C1AB875235D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GB" b="0" i="0" dirty="0">
              <a:effectLst/>
              <a:latin typeface="D-DINExp"/>
            </a:endParaRPr>
          </a:p>
          <a:p>
            <a:endParaRPr lang="en-GB" dirty="0">
              <a:latin typeface="D-DINExp"/>
            </a:endParaRPr>
          </a:p>
          <a:p>
            <a:endParaRPr lang="en-GB" b="0" i="0" dirty="0">
              <a:effectLst/>
              <a:latin typeface="D-DINExp"/>
            </a:endParaRPr>
          </a:p>
          <a:p>
            <a:endParaRPr lang="en-GB" dirty="0">
              <a:latin typeface="D-DINExp"/>
            </a:endParaRPr>
          </a:p>
          <a:p>
            <a:endParaRPr lang="en-GB" b="0" i="0" dirty="0">
              <a:effectLst/>
              <a:latin typeface="D-DINExp"/>
            </a:endParaRPr>
          </a:p>
          <a:p>
            <a:endParaRPr lang="en-GB" b="0" i="0" dirty="0">
              <a:effectLst/>
              <a:latin typeface="D-DINExp"/>
            </a:endParaRPr>
          </a:p>
          <a:p>
            <a:r>
              <a:rPr lang="en-GB" sz="2000" b="0" i="0" dirty="0">
                <a:effectLst/>
                <a:latin typeface="D-DINExp"/>
              </a:rPr>
              <a:t>For my case with </a:t>
            </a:r>
            <a:r>
              <a:rPr lang="en-GB" sz="2000" b="0" i="0" dirty="0">
                <a:effectLst/>
                <a:latin typeface="KaTeX_Main"/>
              </a:rPr>
              <a:t>W=10μm</a:t>
            </a:r>
            <a:r>
              <a:rPr lang="en-GB" sz="2000" b="0" i="0" dirty="0">
                <a:effectLst/>
                <a:latin typeface="D-DINExp"/>
              </a:rPr>
              <a:t>, </a:t>
            </a:r>
            <a:r>
              <a:rPr lang="en-GB" sz="2000" b="0" i="0" dirty="0">
                <a:effectLst/>
                <a:latin typeface="KaTeX_Main"/>
              </a:rPr>
              <a:t>g=3μm</a:t>
            </a:r>
            <a:r>
              <a:rPr lang="en-GB" sz="2000" b="0" i="0" dirty="0">
                <a:effectLst/>
                <a:latin typeface="D-DINExp"/>
              </a:rPr>
              <a:t>, and operating at 0.5 THz (</a:t>
            </a:r>
            <a:r>
              <a:rPr lang="en-GB" sz="2000" b="0" i="0" dirty="0">
                <a:effectLst/>
                <a:latin typeface="KaTeX_Main"/>
              </a:rPr>
              <a:t>λ=600μm</a:t>
            </a:r>
            <a:r>
              <a:rPr lang="en-GB" sz="2000" b="0" i="0" dirty="0">
                <a:effectLst/>
                <a:latin typeface="D-DINExp"/>
              </a:rPr>
              <a:t>), these dimensions (W, g) are </a:t>
            </a:r>
            <a:r>
              <a:rPr lang="en-GB" sz="2000" b="1" i="0" dirty="0">
                <a:effectLst/>
                <a:latin typeface="D-DINExp"/>
              </a:rPr>
              <a:t>well within the lumped-element approximation regime (</a:t>
            </a:r>
            <a:r>
              <a:rPr lang="en-GB" sz="2000" dirty="0">
                <a:latin typeface="KaTeX_Main"/>
              </a:rPr>
              <a:t>λ/10)</a:t>
            </a:r>
            <a:endParaRPr lang="en-GB" sz="2000" b="1" i="0" dirty="0">
              <a:effectLst/>
              <a:latin typeface="D-DINExp"/>
            </a:endParaRPr>
          </a:p>
          <a:p>
            <a:r>
              <a:rPr lang="en-GB" sz="2000" b="0" i="0" dirty="0">
                <a:effectLst/>
                <a:latin typeface="D-DINExp"/>
              </a:rPr>
              <a:t>Using the inductance calculated this way, and applying the duality between inductance and capacitance in transmission lines, we can find the </a:t>
            </a:r>
            <a:r>
              <a:rPr lang="en-GB" sz="2000" b="1" i="0" dirty="0">
                <a:effectLst/>
                <a:latin typeface="D-DINExp"/>
              </a:rPr>
              <a:t>equivalent capacitance </a:t>
            </a:r>
            <a:r>
              <a:rPr lang="en-GB" sz="2000" b="1" i="0" dirty="0">
                <a:effectLst/>
                <a:latin typeface="KaTeX_Main"/>
              </a:rPr>
              <a:t>C</a:t>
            </a:r>
            <a:r>
              <a:rPr lang="en-GB" sz="2000" b="0" i="0" dirty="0">
                <a:effectLst/>
                <a:latin typeface="D-DINExp"/>
              </a:rPr>
              <a:t> of the gap</a:t>
            </a:r>
            <a:endParaRPr lang="en-GB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7629CD-4C1B-8466-FC22-DEDCE3B965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51" b="45373"/>
          <a:stretch>
            <a:fillRect/>
          </a:stretch>
        </p:blipFill>
        <p:spPr>
          <a:xfrm>
            <a:off x="254746" y="1892936"/>
            <a:ext cx="5866746" cy="23546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151725-9AE1-596F-61B6-024CF9C15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931"/>
          <a:stretch>
            <a:fillRect/>
          </a:stretch>
        </p:blipFill>
        <p:spPr>
          <a:xfrm>
            <a:off x="4964993" y="1892936"/>
            <a:ext cx="6639922" cy="2354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778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B5BA5-9B33-761F-BB81-CC9F716B9B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4116" y="1579496"/>
            <a:ext cx="5181600" cy="4568296"/>
          </a:xfrm>
        </p:spPr>
        <p:txBody>
          <a:bodyPr>
            <a:normAutofit/>
          </a:bodyPr>
          <a:lstStyle/>
          <a:p>
            <a:pPr>
              <a:spcAft>
                <a:spcPts val="750"/>
              </a:spcAft>
              <a:buNone/>
            </a:pPr>
            <a:r>
              <a:rPr lang="en-GB" sz="2000" b="1" i="0" dirty="0">
                <a:effectLst/>
              </a:rPr>
              <a:t>Context/Assumptions</a:t>
            </a:r>
          </a:p>
          <a:p>
            <a:pPr>
              <a:spcAft>
                <a:spcPts val="750"/>
              </a:spcAft>
              <a:buNone/>
            </a:pPr>
            <a:r>
              <a:rPr lang="en-GB" sz="1700" b="1" i="0" dirty="0">
                <a:effectLst/>
              </a:rPr>
              <a:t>From the plot (mainly from 3 µm to 10 µm gap):</a:t>
            </a:r>
            <a:endParaRPr lang="en-GB" sz="1700" b="0" i="0" dirty="0">
              <a:effectLst/>
            </a:endParaRPr>
          </a:p>
          <a:p>
            <a:pPr>
              <a:spcBef>
                <a:spcPts val="120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1700" b="1" i="0" dirty="0">
                <a:effectLst/>
              </a:rPr>
              <a:t>At a 3 µm gap</a:t>
            </a:r>
            <a:r>
              <a:rPr lang="en-GB" sz="1700" b="0" i="0" dirty="0">
                <a:effectLst/>
              </a:rPr>
              <a:t>, the capacitance C≈1 </a:t>
            </a:r>
            <a:r>
              <a:rPr lang="en-GB" sz="1700" b="0" i="0" dirty="0" err="1">
                <a:effectLst/>
              </a:rPr>
              <a:t>fF.</a:t>
            </a:r>
            <a:endParaRPr lang="en-GB" sz="1700" b="0" i="0" dirty="0">
              <a:effectLst/>
            </a:endParaRPr>
          </a:p>
          <a:p>
            <a:pPr>
              <a:spcBef>
                <a:spcPts val="120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1700" b="1" i="0" dirty="0">
                <a:effectLst/>
              </a:rPr>
              <a:t>At a 10 µm gap, </a:t>
            </a:r>
            <a:r>
              <a:rPr lang="en-GB" sz="1700" b="0" i="0" dirty="0">
                <a:effectLst/>
              </a:rPr>
              <a:t>the capacitance decreases roughly by a factor of about 2.5 to 3, so the estimated C≈0.3−0.4 </a:t>
            </a:r>
            <a:r>
              <a:rPr lang="en-GB" sz="1700" b="0" i="0" dirty="0" err="1">
                <a:effectLst/>
              </a:rPr>
              <a:t>fF.</a:t>
            </a:r>
            <a:endParaRPr lang="en-GB" sz="1700" b="0" i="0" dirty="0">
              <a:effectLst/>
            </a:endParaRPr>
          </a:p>
          <a:p>
            <a:pPr>
              <a:spcBef>
                <a:spcPts val="120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1700" b="0" i="0" dirty="0">
                <a:effectLst/>
              </a:rPr>
              <a:t>Capacitance values at different frequencies (GHz vs THz), slight variation expected.</a:t>
            </a:r>
          </a:p>
          <a:p>
            <a:pPr>
              <a:spcBef>
                <a:spcPts val="1200"/>
              </a:spcBef>
              <a:spcAft>
                <a:spcPts val="750"/>
              </a:spcAft>
            </a:pPr>
            <a:r>
              <a:rPr lang="en-GB" sz="1700" b="1" i="0" dirty="0">
                <a:effectLst/>
              </a:rPr>
              <a:t>This is a reasonably close and acceptable agreement between the formula and the table value, </a:t>
            </a:r>
            <a:r>
              <a:rPr lang="en-GB" sz="1700" b="1" dirty="0"/>
              <a:t>supporting the formula’s validity.</a:t>
            </a:r>
          </a:p>
          <a:p>
            <a:pPr>
              <a:spcBef>
                <a:spcPts val="120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endParaRPr lang="en-GB" sz="1700" b="0" i="0" dirty="0">
              <a:effectLst/>
            </a:endParaRPr>
          </a:p>
          <a:p>
            <a:endParaRPr lang="en-GB" sz="17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88A6C2-58AC-9300-72B5-A59FE30F3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1916" y="1579496"/>
            <a:ext cx="6562168" cy="4462275"/>
          </a:xfrm>
          <a:prstGeom prst="rect">
            <a:avLst/>
          </a:prstGeom>
          <a:noFill/>
        </p:spPr>
      </p:pic>
      <p:sp>
        <p:nvSpPr>
          <p:cNvPr id="9" name="Title 3">
            <a:extLst>
              <a:ext uri="{FF2B5EF4-FFF2-40B4-BE49-F238E27FC236}">
                <a16:creationId xmlns:a16="http://schemas.microsoft.com/office/drawing/2014/main" id="{E6A8E73F-C3FA-D45F-1471-951EEF540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 fontScale="90000"/>
          </a:bodyPr>
          <a:lstStyle/>
          <a:p>
            <a:r>
              <a:rPr lang="en-GB" dirty="0"/>
              <a:t>Validation of Gap Capacitance Formula Against Literature Values</a:t>
            </a:r>
            <a:br>
              <a:rPr lang="en-GB" b="0" dirty="0"/>
            </a:br>
            <a:br>
              <a:rPr lang="en-GB" dirty="0"/>
            </a:b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E0E842-B213-37F0-70EF-EA1D75F112A2}"/>
              </a:ext>
            </a:extLst>
          </p:cNvPr>
          <p:cNvSpPr txBox="1"/>
          <p:nvPr/>
        </p:nvSpPr>
        <p:spPr>
          <a:xfrm>
            <a:off x="496711" y="5801166"/>
            <a:ext cx="54786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Check the code used for the Gap – capacitor in the notes</a:t>
            </a:r>
            <a:endParaRPr lang="en-GB" sz="1050" dirty="0"/>
          </a:p>
        </p:txBody>
      </p:sp>
    </p:spTree>
    <p:extLst>
      <p:ext uri="{BB962C8B-B14F-4D97-AF65-F5344CB8AC3E}">
        <p14:creationId xmlns:p14="http://schemas.microsoft.com/office/powerpoint/2010/main" val="3557853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36D1A-6F12-07F9-D61A-0431495F6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7E02C0-8248-7492-32BF-851EB5B9DCF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096000" y="1756090"/>
                <a:ext cx="6096000" cy="4568296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spcBef>
                    <a:spcPts val="1200"/>
                  </a:spcBef>
                  <a:buNone/>
                </a:pPr>
                <a:r>
                  <a:rPr lang="en-GB" sz="1600" b="1" dirty="0"/>
                  <a:t>Calculation for gap width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𝟖𝟐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𝒖𝒎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GB" sz="1600" b="1" dirty="0"/>
              </a:p>
              <a:p>
                <a:pPr>
                  <a:spcBef>
                    <a:spcPts val="1200"/>
                  </a:spcBef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GB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2.82×</m:t>
                        </m:r>
                        <m:sSup>
                          <m:sSupPr>
                            <m:ctrlPr>
                              <a:rPr lang="en-GB" sz="16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−6</m:t>
                            </m:r>
                          </m:sup>
                        </m:sSup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4×10×</m:t>
                        </m:r>
                        <m:sSup>
                          <m:sSupPr>
                            <m:ctrlPr>
                              <a:rPr lang="en-GB" sz="16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−6</m:t>
                            </m:r>
                          </m:sup>
                        </m:sSup>
                      </m:den>
                    </m:f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GB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2.82×</m:t>
                        </m:r>
                        <m:sSup>
                          <m:sSupPr>
                            <m:ctrlPr>
                              <a:rPr lang="en-GB" sz="16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−6</m:t>
                            </m:r>
                          </m:sup>
                        </m:sSup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4×</m:t>
                        </m:r>
                        <m:sSup>
                          <m:sSupPr>
                            <m:ctrlPr>
                              <a:rPr lang="en-GB" sz="16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−5</m:t>
                            </m:r>
                          </m:sup>
                        </m:sSup>
                      </m:den>
                    </m:f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=0.0705</m:t>
                    </m:r>
                  </m:oMath>
                </a14:m>
                <a:endParaRPr lang="en-GB" sz="1600" dirty="0"/>
              </a:p>
              <a:p>
                <a:pPr>
                  <a:spcBef>
                    <a:spcPts val="1200"/>
                  </a:spcBef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GB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GB" sz="1600" b="0" i="1"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1600" b="0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GB" sz="1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600" b="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GB" sz="1600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en-GB" sz="1600" b="0" i="1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GB" sz="1600" b="0" i="1">
                                <a:latin typeface="Cambria Math" panose="02040503050406030204" pitchFamily="18" charset="0"/>
                              </a:rPr>
                              <m:t>𝑙𝑛</m:t>
                            </m:r>
                          </m:fName>
                          <m:e>
                            <m:d>
                              <m:dPr>
                                <m:ctrlPr>
                                  <a:rPr lang="en-GB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GB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GB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GB" sz="1600" b="0" i="1">
                                            <a:latin typeface="Cambria Math" panose="02040503050406030204" pitchFamily="18" charset="0"/>
                                          </a:rPr>
                                          <m:t>1+</m:t>
                                        </m:r>
                                        <m:sSup>
                                          <m:sSupPr>
                                            <m:ctrlPr>
                                              <a:rPr lang="en-GB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GB" sz="1600" b="0" i="1">
                                                <a:latin typeface="Cambria Math" panose="02040503050406030204" pitchFamily="18" charset="0"/>
                                              </a:rPr>
                                              <m:t>𝑝</m:t>
                                            </m:r>
                                          </m:e>
                                          <m:sup>
                                            <m:r>
                                              <a:rPr lang="en-GB" sz="1600" b="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rad>
                                  </m:num>
                                  <m:den>
                                    <m:r>
                                      <a:rPr lang="en-GB" sz="1600" b="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en-GB" sz="1600" dirty="0"/>
                  <a:t> = 0.0705 -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16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GB" sz="16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0.0705</m:t>
                            </m:r>
                          </m:e>
                          <m:sup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GB" sz="16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GB" sz="16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sz="1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1600" b="0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600" b="0" i="1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p>
                                      <m:sSupPr>
                                        <m:ctrlPr>
                                          <a:rPr lang="en-GB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sz="1600" b="0" i="1" smtClean="0">
                                            <a:latin typeface="Cambria Math" panose="02040503050406030204" pitchFamily="18" charset="0"/>
                                          </a:rPr>
                                          <m:t>0.0705</m:t>
                                        </m:r>
                                      </m:e>
                                      <m:sup>
                                        <m:r>
                                          <a:rPr lang="en-GB" sz="1600" b="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num>
                              <m:den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0.0705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GB" sz="1600" dirty="0"/>
              </a:p>
              <a:p>
                <a:pPr>
                  <a:spcBef>
                    <a:spcPts val="1200"/>
                  </a:spcBef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600" b="0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0.00497</m:t>
                        </m:r>
                      </m:e>
                    </m:ra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sz="16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1.00497</m:t>
                        </m:r>
                      </m:e>
                    </m:ra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≈1.0023</m:t>
                    </m:r>
                  </m:oMath>
                </a14:m>
                <a:endParaRPr lang="en-GB" sz="1600" dirty="0"/>
              </a:p>
              <a:p>
                <a:pPr>
                  <a:spcBef>
                    <a:spcPts val="1200"/>
                  </a:spcBef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1+1.0023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0.0705</m:t>
                        </m:r>
                      </m:den>
                    </m:f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2.0025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0.0705</m:t>
                        </m:r>
                      </m:den>
                    </m:f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≈28.4 ,  </m:t>
                    </m:r>
                    <m:func>
                      <m:funcPr>
                        <m:ctrlPr>
                          <a:rPr lang="en-GB" sz="16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(28.4)≈3.343</m:t>
                        </m:r>
                      </m:e>
                    </m:func>
                  </m:oMath>
                </a14:m>
                <a:endParaRPr lang="en-GB" sz="1600" dirty="0"/>
              </a:p>
              <a:p>
                <a:pPr>
                  <a:spcBef>
                    <a:spcPts val="1200"/>
                  </a:spcBef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∴0.0705 −1.0023+3.343= </m:t>
                    </m:r>
                    <m:d>
                      <m:dPr>
                        <m:ctrlPr>
                          <a:rPr lang="en-GB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0.0705−1.0023</m:t>
                        </m:r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+3.343=−0.932+3.343=2.411</m:t>
                    </m:r>
                  </m:oMath>
                </a14:m>
                <a:endParaRPr lang="en-GB" sz="1600" dirty="0"/>
              </a:p>
              <a:p>
                <a:pPr>
                  <a:spcBef>
                    <a:spcPts val="1200"/>
                  </a:spcBef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GB" sz="1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2 ×8.854 ×</m:t>
                        </m:r>
                        <m:sSup>
                          <m:sSupPr>
                            <m:ctrlPr>
                              <a:rPr lang="en-GB" sz="1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  <m:t>−12</m:t>
                            </m:r>
                          </m:sup>
                        </m:sSup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×7.87 ×10×</m:t>
                        </m:r>
                        <m:sSup>
                          <m:sSupPr>
                            <m:ctrlPr>
                              <a:rPr lang="en-GB" sz="1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  <m:t>−6</m:t>
                            </m:r>
                          </m:sup>
                        </m:sSup>
                      </m:num>
                      <m:den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den>
                    </m:f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×2.411</m:t>
                    </m:r>
                  </m:oMath>
                </a14:m>
                <a:r>
                  <a:rPr lang="en-GB" sz="1800" dirty="0"/>
                  <a:t> </a:t>
                </a:r>
                <a14:m>
                  <m:oMath xmlns:m="http://schemas.openxmlformats.org/officeDocument/2006/math">
                    <m:r>
                      <a:rPr lang="en-GB" sz="1800" b="0" i="1">
                        <a:latin typeface="Cambria Math" panose="02040503050406030204" pitchFamily="18" charset="0"/>
                      </a:rPr>
                      <m:t>≈ </m:t>
                    </m:r>
                  </m:oMath>
                </a14:m>
                <a:r>
                  <a:rPr lang="en-GB" sz="1800" dirty="0"/>
                  <a:t>1.07fF</a:t>
                </a:r>
              </a:p>
              <a:p>
                <a:pPr marL="0" indent="0">
                  <a:spcBef>
                    <a:spcPts val="1200"/>
                  </a:spcBef>
                  <a:buNone/>
                </a:pPr>
                <a:endParaRPr lang="en-GB" sz="1600" dirty="0"/>
              </a:p>
              <a:p>
                <a:pPr marL="0" indent="0">
                  <a:spcBef>
                    <a:spcPts val="1200"/>
                  </a:spcBef>
                  <a:buNone/>
                </a:pPr>
                <a:r>
                  <a:rPr lang="en-GB" sz="1600" b="1" dirty="0"/>
                  <a:t>Result</a:t>
                </a:r>
                <a:r>
                  <a:rPr lang="en-GB" sz="1600" dirty="0"/>
                  <a:t>: For g ≈ 2.82 μm, the capacitance is approximately 1.07 femtofarads (fF).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7E02C0-8248-7492-32BF-851EB5B9DC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096000" y="1756090"/>
                <a:ext cx="6096000" cy="4568296"/>
              </a:xfrm>
              <a:blipFill>
                <a:blip r:embed="rId3"/>
                <a:stretch>
                  <a:fillRect l="-500" t="-14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950D134C-D96E-47EF-4D22-18A955EA58C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198120" y="1756090"/>
                <a:ext cx="5181600" cy="456829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1800" b="1" dirty="0"/>
                  <a:t>Given: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1400" dirty="0"/>
                  <a:t>Effective relative permittivity,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𝑒𝑓𝑓</m:t>
                        </m:r>
                      </m:sub>
                    </m:sSub>
                    <m:r>
                      <a:rPr lang="en-GB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400" dirty="0"/>
                  <a:t>= 7.87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1400" dirty="0"/>
                  <a:t>Vacuum permittivity,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l-GR" sz="1400" dirty="0"/>
                  <a:t>=</a:t>
                </a:r>
                <a:r>
                  <a:rPr lang="en-GB" sz="1400" dirty="0"/>
                  <a:t> </a:t>
                </a:r>
                <a:r>
                  <a:rPr lang="el-GR" sz="1400" dirty="0"/>
                  <a:t>8.854</a:t>
                </a:r>
                <a:r>
                  <a:rPr lang="en-GB" sz="1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a:rPr lang="en-GB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l-GR" sz="1400" dirty="0"/>
                  <a:t> </a:t>
                </a:r>
                <a:r>
                  <a:rPr lang="en-GB" sz="1400" dirty="0"/>
                  <a:t>F/m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1400" dirty="0"/>
                  <a:t>Strip width, W =10 </a:t>
                </a:r>
                <a:r>
                  <a:rPr lang="el-GR" sz="1400" dirty="0"/>
                  <a:t>μ</a:t>
                </a:r>
                <a:r>
                  <a:rPr lang="en-GB" sz="1400" dirty="0"/>
                  <a:t>m = </a:t>
                </a:r>
                <a14:m>
                  <m:oMath xmlns:m="http://schemas.openxmlformats.org/officeDocument/2006/math">
                    <m:r>
                      <a:rPr lang="en-GB" sz="1400" b="0" i="0" smtClean="0">
                        <a:latin typeface="Cambria Math" panose="02040503050406030204" pitchFamily="18" charset="0"/>
                      </a:rPr>
                      <m:t>10</m:t>
                    </m:r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−6</m:t>
                        </m:r>
                      </m:sup>
                    </m:sSup>
                    <m:r>
                      <a:rPr lang="en-GB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400" dirty="0"/>
                  <a:t>C = 1fF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1400" dirty="0">
                    <a:solidFill>
                      <a:srgbClr val="C00000"/>
                    </a:solidFill>
                  </a:rPr>
                  <a:t>g: ?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400" dirty="0"/>
                  <a:t>: Normalized gap parameter, defined as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GB" sz="180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180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GB" sz="18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80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GB" sz="180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GB" sz="180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den>
                    </m:f>
                  </m:oMath>
                </a14:m>
                <a:endParaRPr lang="en-US" sz="1400" dirty="0"/>
              </a:p>
              <a:p>
                <a:pPr marL="0" indent="0">
                  <a:buNone/>
                </a:pPr>
                <a:endParaRPr lang="en-GB" sz="1400" dirty="0"/>
              </a:p>
              <a:p>
                <a:pPr marL="0" indent="0">
                  <a:buNone/>
                </a:pPr>
                <a:r>
                  <a:rPr lang="en-GB" sz="1800" dirty="0"/>
                  <a:t>Equivalent capacitance C for Coplanar Waveguide gap:</a:t>
                </a:r>
                <a:endParaRPr lang="en-GB" sz="1800" b="1" dirty="0"/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GB" sz="18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sz="18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GB" sz="18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8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2 ∙</m:t>
                        </m:r>
                        <m:sSub>
                          <m:sSubPr>
                            <m:ctrlPr>
                              <a:rPr lang="en-GB" sz="180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GB" sz="18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sz="18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GB" sz="180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GB" sz="18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GB" sz="18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sz="18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𝑒𝑓𝑓</m:t>
                            </m:r>
                          </m:sub>
                        </m:sSub>
                        <m:r>
                          <a:rPr lang="en-GB" sz="18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∙</m:t>
                        </m:r>
                        <m:r>
                          <a:rPr lang="en-GB" sz="18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GB" sz="18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den>
                    </m:f>
                    <m:d>
                      <m:dPr>
                        <m:ctrlPr>
                          <a:rPr lang="en-GB" sz="18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8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GB" sz="18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GB" sz="180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18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GB" sz="1800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800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GB" sz="1800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en-GB" sz="18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GB" sz="180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1800" b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GB" sz="180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GB" sz="1800" i="1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800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GB" sz="1800" i="1">
                                            <a:solidFill>
                                              <a:schemeClr val="accent4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GB" sz="1800" b="0" i="1" smtClean="0">
                                            <a:solidFill>
                                              <a:schemeClr val="accent4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1+</m:t>
                                        </m:r>
                                        <m:sSup>
                                          <m:sSupPr>
                                            <m:ctrlPr>
                                              <a:rPr lang="en-GB" sz="1800" i="1">
                                                <a:solidFill>
                                                  <a:schemeClr val="accent4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GB" sz="1800" b="0" i="1" smtClean="0">
                                                <a:solidFill>
                                                  <a:schemeClr val="accent4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𝑝</m:t>
                                            </m:r>
                                          </m:e>
                                          <m:sup>
                                            <m:r>
                                              <a:rPr lang="en-GB" sz="1800" b="0" i="1" smtClean="0">
                                                <a:solidFill>
                                                  <a:schemeClr val="accent4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rad>
                                  </m:num>
                                  <m:den>
                                    <m:r>
                                      <a:rPr lang="en-GB" sz="1800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US" sz="180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950D134C-D96E-47EF-4D22-18A955EA58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198120" y="1756090"/>
                <a:ext cx="5181600" cy="4568296"/>
              </a:xfrm>
              <a:blipFill>
                <a:blip r:embed="rId4"/>
                <a:stretch>
                  <a:fillRect l="-1059" t="-120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CC4DF52B-28D4-1EEA-5B3E-9E9359BA7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 anchor="t">
            <a:normAutofit fontScale="90000"/>
          </a:bodyPr>
          <a:lstStyle/>
          <a:p>
            <a:r>
              <a:rPr lang="en-GB" sz="2000" dirty="0"/>
              <a:t>Calculation of Equivalent Capacitance for CPW Gap</a:t>
            </a:r>
            <a:br>
              <a:rPr lang="en-GB" sz="2000" dirty="0"/>
            </a:br>
            <a:br>
              <a:rPr lang="en-GB" sz="2000" dirty="0"/>
            </a:br>
            <a:endParaRPr lang="en-GB" sz="2000" dirty="0"/>
          </a:p>
        </p:txBody>
      </p:sp>
      <p:sp>
        <p:nvSpPr>
          <p:cNvPr id="4" name="Star: 4 Points 3">
            <a:extLst>
              <a:ext uri="{FF2B5EF4-FFF2-40B4-BE49-F238E27FC236}">
                <a16:creationId xmlns:a16="http://schemas.microsoft.com/office/drawing/2014/main" id="{A5A6AD49-9C2F-5F73-7947-2F2D9C9FC0DF}"/>
              </a:ext>
            </a:extLst>
          </p:cNvPr>
          <p:cNvSpPr/>
          <p:nvPr/>
        </p:nvSpPr>
        <p:spPr>
          <a:xfrm>
            <a:off x="5379720" y="5379720"/>
            <a:ext cx="716280" cy="685586"/>
          </a:xfrm>
          <a:prstGeom prst="star4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7095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98D29-1A61-E5A8-8279-026179D24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A8F425E-C014-D9BF-9B7C-EBC79A8A796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Calculated Resonant Length (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GB" dirty="0"/>
                  <a:t>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A8F425E-C014-D9BF-9B7C-EBC79A8A79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324" t="-124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045BDE-CE50-F702-64FA-2B825B643734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GB" sz="1800" dirty="0"/>
                  <a:t>Formula:</a:t>
                </a: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𝒍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𝒄</m:t>
                        </m:r>
                      </m:num>
                      <m:den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𝟐</m:t>
                        </m:r>
                        <m:sSub>
                          <m:sSubPr>
                            <m:ctrlPr>
                              <a:rPr lang="en-GB" sz="16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𝒆𝒇𝒇</m:t>
                            </m:r>
                          </m:sub>
                        </m:sSub>
                        <m:sSub>
                          <m:sSubPr>
                            <m:ctrlPr>
                              <a:rPr lang="en-GB" sz="16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den>
                    </m:f>
                  </m:oMath>
                </a14:m>
                <a:endParaRPr lang="en-GB" sz="1600" b="1" dirty="0"/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GB" sz="1600" dirty="0"/>
                  <a:t> = </a:t>
                </a:r>
                <a:r>
                  <a:rPr lang="en-GB" sz="1800" dirty="0"/>
                  <a:t> Resonant frequency = 0.3, 0.5, 0.7 THz</a:t>
                </a:r>
              </a:p>
              <a:p>
                <a:pPr>
                  <a:lnSpc>
                    <a:spcPct val="100000"/>
                  </a:lnSpc>
                </a:pPr>
                <a:r>
                  <a:rPr lang="en-GB" sz="1800" dirty="0"/>
                  <a:t> c = Speed of light in vacuum (approximately </a:t>
                </a:r>
                <a14:m>
                  <m:oMath xmlns:m="http://schemas.openxmlformats.org/officeDocument/2006/math">
                    <m:r>
                      <a:rPr lang="en-GB" sz="1800" b="0" i="0" smtClean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GB" sz="1800" b="0" i="0" smtClean="0">
                        <a:latin typeface="Cambria Math" panose="02040503050406030204" pitchFamily="18" charset="0"/>
                      </a:rPr>
                      <m:t>x</m:t>
                    </m:r>
                    <m:sSup>
                      <m:sSupPr>
                        <m:ctrlPr>
                          <a:rPr lang="en-GB" sz="1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en-GB" sz="1800" dirty="0"/>
                  <a:t> m/s)</a:t>
                </a:r>
              </a:p>
              <a:p>
                <a:pPr>
                  <a:lnSpc>
                    <a:spcPct val="100000"/>
                  </a:lnSpc>
                </a:pPr>
                <a:r>
                  <a:rPr lang="en-GB" sz="1800" dirty="0"/>
                  <a:t> </a:t>
                </a:r>
                <a14:m>
                  <m:oMath xmlns:m="http://schemas.openxmlformats.org/officeDocument/2006/math">
                    <m:r>
                      <a:rPr lang="en-GB" sz="1800" b="1" i="1">
                        <a:latin typeface="Cambria Math" panose="02040503050406030204" pitchFamily="18" charset="0"/>
                      </a:rPr>
                      <m:t>𝒍</m:t>
                    </m:r>
                    <m:r>
                      <a:rPr lang="en-GB" sz="1800" b="0" i="0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GB" sz="1800" dirty="0"/>
                  <a:t> Resonant length (length of the resonator) = ?</a:t>
                </a: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GB" sz="1800" b="1" i="1">
                            <a:latin typeface="Cambria Math" panose="02040503050406030204" pitchFamily="18" charset="0"/>
                          </a:rPr>
                          <m:t>𝒆𝒇𝒇</m:t>
                        </m:r>
                      </m:sub>
                    </m:sSub>
                    <m:r>
                      <a:rPr lang="en-GB" sz="18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800" dirty="0"/>
                  <a:t>= Effective refractive index (dimensionless) = 2.8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GB" sz="18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ar-SA" sz="1800" dirty="0"/>
                  <a:t>@</a:t>
                </a:r>
                <a:r>
                  <a:rPr lang="en-GB" sz="18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GB" sz="18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GB" sz="1800" dirty="0"/>
                  <a:t> =0.3THz</a:t>
                </a: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GB" sz="1800" b="1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𝒍</m:t>
                    </m:r>
                    <m:r>
                      <a:rPr lang="en-GB" sz="1800" b="1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800" dirty="0">
                    <a:solidFill>
                      <a:schemeClr val="accent4"/>
                    </a:solidFill>
                  </a:rPr>
                  <a:t>= 179um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ar-SA" sz="1800" dirty="0"/>
                  <a:t>@</a:t>
                </a:r>
                <a:r>
                  <a:rPr lang="en-GB" sz="18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GB" sz="18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GB" sz="1800" dirty="0"/>
                  <a:t> =0.5THz</a:t>
                </a: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GB" sz="1800" b="1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𝒍</m:t>
                    </m:r>
                    <m:r>
                      <a:rPr lang="en-GB" sz="1800" b="1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800" dirty="0">
                    <a:solidFill>
                      <a:schemeClr val="accent4"/>
                    </a:solidFill>
                  </a:rPr>
                  <a:t>=107um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ar-SA" sz="1800" dirty="0"/>
                  <a:t>@</a:t>
                </a:r>
                <a:r>
                  <a:rPr lang="en-GB" sz="18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GB" sz="18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GB" sz="1800" dirty="0"/>
                  <a:t> =0.8THz</a:t>
                </a:r>
                <a:endParaRPr lang="ar-SA" sz="1800" dirty="0"/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GB" sz="1800" b="1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𝒍</m:t>
                    </m:r>
                    <m:r>
                      <a:rPr lang="en-GB" sz="1800" b="1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800" dirty="0">
                    <a:solidFill>
                      <a:schemeClr val="accent4"/>
                    </a:solidFill>
                  </a:rPr>
                  <a:t>=66.96um</a:t>
                </a:r>
              </a:p>
              <a:p>
                <a:pPr>
                  <a:lnSpc>
                    <a:spcPct val="100000"/>
                  </a:lnSpc>
                </a:pPr>
                <a:endParaRPr lang="en-GB" sz="1800" dirty="0"/>
              </a:p>
              <a:p>
                <a:pPr>
                  <a:lnSpc>
                    <a:spcPct val="100000"/>
                  </a:lnSpc>
                </a:pPr>
                <a:endParaRPr lang="en-GB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045BDE-CE50-F702-64FA-2B825B6437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4"/>
                <a:stretch>
                  <a:fillRect l="-425" t="-15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3080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D4599-5BCF-5721-3D38-73A841E28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4C473-880A-6EB4-B4CD-291E668F60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7381138" cy="789709"/>
          </a:xfrm>
        </p:spPr>
        <p:txBody>
          <a:bodyPr>
            <a:normAutofit fontScale="90000"/>
          </a:bodyPr>
          <a:lstStyle/>
          <a:p>
            <a:r>
              <a:rPr lang="en-GB" dirty="0"/>
              <a:t>Interdigitated Capacitor Design &amp; Calculation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756901-8875-23D6-4E51-20CCFDC4F2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7765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04F36-17C2-D8F2-C7D3-21E90160E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8F93E9E-C53D-8B00-2B55-556564DBACC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1608667"/>
                <a:ext cx="11527466" cy="4568296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GB" sz="1800" b="1" dirty="0"/>
                  <a:t>Formula for IDC Capacitance</a:t>
                </a:r>
              </a:p>
              <a:p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 −1</m:t>
                        </m:r>
                      </m:e>
                    </m:d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 </m:t>
                    </m:r>
                    <m:sSub>
                      <m:sSubPr>
                        <m:ctrlPr>
                          <a:rPr lang="en-GB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GB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∙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GB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endParaRPr lang="en-GB" sz="1800" dirty="0"/>
              </a:p>
              <a:p>
                <a:r>
                  <a:rPr lang="en-GB" sz="1800" dirty="0"/>
                  <a:t>N = number of fingers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GB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𝑒𝑓</m:t>
                        </m:r>
                        <m:r>
                          <a:rPr lang="en-GB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</m:sSub>
                    <m:f>
                      <m:fPr>
                        <m:ctrlPr>
                          <a:rPr lang="en-GB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  <m:r>
                          <a:rPr lang="en-GB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(</m:t>
                        </m:r>
                        <m:r>
                          <a:rPr lang="en-GB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GB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GB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  <m:r>
                          <a:rPr lang="en-GB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(</m:t>
                        </m:r>
                        <m:sSup>
                          <m:sSupPr>
                            <m:ctrlPr>
                              <a:rPr lang="en-GB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GB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GB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GB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1800" dirty="0"/>
                  <a:t>Capacitance per unit length (</a:t>
                </a:r>
                <a:r>
                  <a:rPr lang="en-GB" sz="1800" dirty="0" err="1"/>
                  <a:t>fF</a:t>
                </a:r>
                <a:r>
                  <a:rPr lang="en-GB" sz="1800" dirty="0"/>
                  <a:t>/um)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GB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1800" dirty="0"/>
                  <a:t> finger length (um)</a:t>
                </a:r>
              </a:p>
              <a:p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GB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l-G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  <m:r>
                          <a:rPr lang="en-GB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</m:t>
                        </m:r>
                        <m:r>
                          <a:rPr lang="en-GB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endParaRPr lang="en-GB" sz="1800" dirty="0"/>
              </a:p>
              <a:p>
                <a:pPr>
                  <a:lnSpc>
                    <a:spcPct val="100000"/>
                  </a:lnSpc>
                </a:pPr>
                <a:r>
                  <a:rPr lang="en-GB" sz="1800" dirty="0"/>
                  <a:t>C = 0.1fF</a:t>
                </a: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𝑒𝑓𝑓</m:t>
                        </m:r>
                      </m:sub>
                    </m:sSub>
                  </m:oMath>
                </a14:m>
                <a:r>
                  <a:rPr lang="en-GB" sz="1800" dirty="0"/>
                  <a:t> = 7.84</a:t>
                </a: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GB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GB" sz="1800" dirty="0"/>
                  <a:t>=8.854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−12</m:t>
                        </m:r>
                      </m:sup>
                    </m:sSup>
                    <m:r>
                      <a:rPr lang="en-GB" sz="1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8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GB" sz="1800" i="1">
                        <a:latin typeface="Cambria Math" panose="02040503050406030204" pitchFamily="18" charset="0"/>
                      </a:rPr>
                      <m:t>/</m:t>
                    </m:r>
                  </m:oMath>
                </a14:m>
                <a:r>
                  <a:rPr lang="en-GB" sz="1800" dirty="0"/>
                  <a:t>m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r>
                      <a:rPr lang="en-GB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GB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)/</m:t>
                    </m:r>
                    <m:r>
                      <a:rPr lang="en-GB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GB" sz="1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1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GB" sz="1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GB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1700" dirty="0"/>
                  <a:t>elliptic integral ratio dependent on finger width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en-GB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700" dirty="0"/>
                  <a:t>and spacing </a:t>
                </a:r>
                <a14:m>
                  <m:oMath xmlns:m="http://schemas.openxmlformats.org/officeDocument/2006/math">
                    <m:r>
                      <a:rPr lang="en-GB" sz="17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GB" sz="1700" dirty="0"/>
                  <a:t>. This is ratio </a:t>
                </a:r>
                <a:r>
                  <a:rPr lang="en-GB" sz="1700" dirty="0">
                    <a:solidFill>
                      <a:schemeClr val="tx1"/>
                    </a:solidFill>
                  </a:rPr>
                  <a:t>accounts for the fringe</a:t>
                </a:r>
              </a:p>
              <a:p>
                <a:pPr marL="0" indent="0">
                  <a:buNone/>
                </a:pPr>
                <a:r>
                  <a:rPr lang="en-GB" sz="1700" dirty="0">
                    <a:solidFill>
                      <a:schemeClr val="tx1"/>
                    </a:solidFill>
                  </a:rPr>
                  <a:t> fields created by the finger width and spacing.</a:t>
                </a:r>
                <a:endParaRPr lang="en-GB" sz="1700" dirty="0"/>
              </a:p>
              <a:p>
                <a:pPr marL="0" indent="0">
                  <a:buNone/>
                </a:pPr>
                <a:endParaRPr lang="en-GB" dirty="0"/>
              </a:p>
              <a:p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8F93E9E-C53D-8B00-2B55-556564DBAC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1608667"/>
                <a:ext cx="11527466" cy="4568296"/>
              </a:xfrm>
              <a:blipFill>
                <a:blip r:embed="rId3"/>
                <a:stretch>
                  <a:fillRect l="-317" t="-160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F1E6265D-0161-8C62-CB45-32C7E0344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dirty="0"/>
              <a:t> Conformal mapping theory - model the interdigitated capacitor (IDC) capacitance.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AF62E2-3C30-B7D5-C2AD-3EB99D56E8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32" y="2653500"/>
            <a:ext cx="4036785" cy="2040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658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BB8972B1F895748BC1108621BC22AD7" ma:contentTypeVersion="12" ma:contentTypeDescription="Create a new document." ma:contentTypeScope="" ma:versionID="2a42201009da03864d56ea8a139b802c">
  <xsd:schema xmlns:xsd="http://www.w3.org/2001/XMLSchema" xmlns:xs="http://www.w3.org/2001/XMLSchema" xmlns:p="http://schemas.microsoft.com/office/2006/metadata/properties" xmlns:ns3="24902253-9c3e-499c-b2fc-e78b248df7db" targetNamespace="http://schemas.microsoft.com/office/2006/metadata/properties" ma:root="true" ma:fieldsID="e314f8811fa512ff42d56f924179ec01" ns3:_="">
    <xsd:import namespace="24902253-9c3e-499c-b2fc-e78b248df7d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902253-9c3e-499c-b2fc-e78b248df7d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4902253-9c3e-499c-b2fc-e78b248df7db" xsi:nil="true"/>
  </documentManagement>
</p:properties>
</file>

<file path=customXml/itemProps1.xml><?xml version="1.0" encoding="utf-8"?>
<ds:datastoreItem xmlns:ds="http://schemas.openxmlformats.org/officeDocument/2006/customXml" ds:itemID="{6960E2A2-A181-41B2-B36A-0F0F799593F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4902253-9c3e-499c-b2fc-e78b248df7d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BE5DD30-A5AD-456C-9B59-0C14E8196F4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EED6D88-E97C-4110-99A5-CB51450D54A2}">
  <ds:schemaRefs>
    <ds:schemaRef ds:uri="http://purl.org/dc/elements/1.1/"/>
    <ds:schemaRef ds:uri="http://purl.org/dc/dcmitype/"/>
    <ds:schemaRef ds:uri="http://purl.org/dc/terms/"/>
    <ds:schemaRef ds:uri="24902253-9c3e-499c-b2fc-e78b248df7db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23726</TotalTime>
  <Words>2461</Words>
  <Application>Microsoft Office PowerPoint</Application>
  <PresentationFormat>Widescreen</PresentationFormat>
  <Paragraphs>314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Cambria Math</vt:lpstr>
      <vt:lpstr>D-DINExp</vt:lpstr>
      <vt:lpstr>KaTeX_Main</vt:lpstr>
      <vt:lpstr>Wingdings</vt:lpstr>
      <vt:lpstr>Office Theme</vt:lpstr>
      <vt:lpstr>Gap &amp; IDC Calculation/Formula used - Overview</vt:lpstr>
      <vt:lpstr>Gap Capacitor Design &amp; Calculation/Formula</vt:lpstr>
      <vt:lpstr>Formula Validity: Equivalent Capacitance for CPW Series Gap</vt:lpstr>
      <vt:lpstr>Validation of Gap Capacitance Formula Against Literature Values  </vt:lpstr>
      <vt:lpstr>Calculation of Equivalent Capacitance for CPW Gap  </vt:lpstr>
      <vt:lpstr>Calculated Resonant Length (l)</vt:lpstr>
      <vt:lpstr>Interdigitated Capacitor Design &amp; Calculation </vt:lpstr>
      <vt:lpstr> Conformal mapping theory - model the interdigitated capacitor (IDC) capacitance.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Abdulaziz Alkhudhayr</dc:creator>
  <cp:keywords/>
  <dc:description/>
  <cp:lastModifiedBy>Abdulaziz Saud A Alkhudhayr (PGR)</cp:lastModifiedBy>
  <cp:revision>338</cp:revision>
  <dcterms:created xsi:type="dcterms:W3CDTF">2021-01-06T14:22:07Z</dcterms:created>
  <dcterms:modified xsi:type="dcterms:W3CDTF">2026-05-25T11:13:23Z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0x010100CBB8972B1F895748BC1108621BC22AD7</vt:lpwstr>
  </property>
</Properties>
</file>